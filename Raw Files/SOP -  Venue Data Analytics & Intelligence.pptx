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74" r:id="rId6"/>
    <p:sldId id="263" r:id="rId7"/>
    <p:sldId id="276" r:id="rId8"/>
    <p:sldId id="264" r:id="rId9"/>
    <p:sldId id="277" r:id="rId10"/>
    <p:sldId id="278" r:id="rId11"/>
    <p:sldId id="279" r:id="rId12"/>
    <p:sldId id="280" r:id="rId13"/>
    <p:sldId id="281" r:id="rId14"/>
    <p:sldId id="266" r:id="rId15"/>
    <p:sldId id="267" r:id="rId16"/>
    <p:sldId id="272" r:id="rId17"/>
    <p:sldId id="27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04C75"/>
    <a:srgbClr val="F5F9FE"/>
    <a:srgbClr val="4D92E2"/>
    <a:srgbClr val="546271"/>
    <a:srgbClr val="1F2937"/>
    <a:srgbClr val="4A90E2"/>
    <a:srgbClr val="478EE1"/>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7066" autoAdjust="0"/>
  </p:normalViewPr>
  <p:slideViewPr>
    <p:cSldViewPr snapToGrid="0">
      <p:cViewPr varScale="1">
        <p:scale>
          <a:sx n="49" d="100"/>
          <a:sy n="49" d="100"/>
        </p:scale>
        <p:origin x="1312"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F7C288C7-0264-9A01-B7CD-F3E6F3BF667E}"/>
              </a:ext>
            </a:extLst>
          </p:cNvPr>
          <p:cNvSpPr>
            <a:spLocks noGrp="1"/>
          </p:cNvSpPr>
          <p:nvPr>
            <p:ph type="ftr" sz="quarter" idx="11"/>
          </p:nvPr>
        </p:nvSpPr>
        <p:spPr/>
        <p:txBody>
          <a:bodyPr/>
          <a:lstStyle/>
          <a:p>
            <a:r>
              <a:rPr lang="en-US" dirty="0"/>
              <a:t>SOP-MIS-Venue-001 | Version 1.0 | Internal Use Only</a:t>
            </a:r>
            <a:endParaRPr lang="en-IN" dirty="0"/>
          </a:p>
        </p:txBody>
      </p:sp>
      <p:sp>
        <p:nvSpPr>
          <p:cNvPr id="6" name="Slide Number Placeholder 5">
            <a:extLst>
              <a:ext uri="{FF2B5EF4-FFF2-40B4-BE49-F238E27FC236}">
                <a16:creationId xmlns:a16="http://schemas.microsoft.com/office/drawing/2014/main" id="{D394F143-B04D-0479-F9AB-BF8B2B6B1DE2}"/>
              </a:ext>
            </a:extLst>
          </p:cNvPr>
          <p:cNvSpPr>
            <a:spLocks noGrp="1"/>
          </p:cNvSpPr>
          <p:nvPr>
            <p:ph type="sldNum" sz="quarter" idx="12"/>
          </p:nvPr>
        </p:nvSpPr>
        <p:spPr>
          <a:solidFill>
            <a:schemeClr val="bg1"/>
          </a:solidFill>
        </p:spPr>
        <p:txBody>
          <a:bodyPr/>
          <a:lstStyle/>
          <a:p>
            <a:fld id="{8FE30FAF-46CC-4F81-9794-FFAD6830753D}" type="slidenum">
              <a:rPr lang="en-IN" smtClean="0"/>
              <a:t>‹#›</a:t>
            </a:fld>
            <a:endParaRPr lang="en-IN"/>
          </a:p>
        </p:txBody>
      </p:sp>
      <p:sp>
        <p:nvSpPr>
          <p:cNvPr id="2" name="Footer Placeholder 4">
            <a:extLst>
              <a:ext uri="{FF2B5EF4-FFF2-40B4-BE49-F238E27FC236}">
                <a16:creationId xmlns:a16="http://schemas.microsoft.com/office/drawing/2014/main" id="{1207AF29-FD4D-DA9D-4690-013A49E25EE7}"/>
              </a:ext>
            </a:extLst>
          </p:cNvPr>
          <p:cNvSpPr txBox="1">
            <a:spLocks/>
          </p:cNvSpPr>
          <p:nvPr userDrawn="1"/>
        </p:nvSpPr>
        <p:spPr>
          <a:xfrm>
            <a:off x="4580872" y="6455556"/>
            <a:ext cx="3030256"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2">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atin typeface="Calibri" panose="020F0502020204030204" pitchFamily="34" charset="0"/>
                <a:ea typeface="Source Sans Pro Light"/>
                <a:cs typeface="Calibri" panose="020F0502020204030204" pitchFamily="34" charset="0"/>
              </a:rPr>
              <a:t> © DEXIT GLOBAL Limited. All rights reserved </a:t>
            </a:r>
            <a:endParaRPr lang="en-IN" dirty="0"/>
          </a:p>
        </p:txBody>
      </p:sp>
      <p:sp>
        <p:nvSpPr>
          <p:cNvPr id="3" name="Slide Number Placeholder 5">
            <a:extLst>
              <a:ext uri="{FF2B5EF4-FFF2-40B4-BE49-F238E27FC236}">
                <a16:creationId xmlns:a16="http://schemas.microsoft.com/office/drawing/2014/main" id="{F1AF9DA9-CFA2-8141-C9FA-792628E49136}"/>
              </a:ext>
            </a:extLst>
          </p:cNvPr>
          <p:cNvSpPr txBox="1">
            <a:spLocks/>
          </p:cNvSpPr>
          <p:nvPr userDrawn="1"/>
        </p:nvSpPr>
        <p:spPr>
          <a:xfrm>
            <a:off x="11461314" y="6418980"/>
            <a:ext cx="46868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2">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94F24A5-2FC1-406B-8F3F-FD231C9B8C1E}" type="slidenum">
              <a:rPr lang="en-IN" smtClean="0"/>
              <a:pPr/>
              <a:t>‹#›</a:t>
            </a:fld>
            <a:endParaRPr lang="en-IN" dirty="0"/>
          </a:p>
        </p:txBody>
      </p:sp>
    </p:spTree>
    <p:extLst>
      <p:ext uri="{BB962C8B-B14F-4D97-AF65-F5344CB8AC3E}">
        <p14:creationId xmlns:p14="http://schemas.microsoft.com/office/powerpoint/2010/main" val="1657516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47A81-FDDE-244C-06BA-72156846102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FE0F968-8754-73FB-289A-52EE31B02A9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D27BF3D-43E7-4EA3-7888-2D74DE7DB1A1}"/>
              </a:ext>
            </a:extLst>
          </p:cNvPr>
          <p:cNvSpPr>
            <a:spLocks noGrp="1"/>
          </p:cNvSpPr>
          <p:nvPr>
            <p:ph type="dt" sz="half" idx="10"/>
          </p:nvPr>
        </p:nvSpPr>
        <p:spPr/>
        <p:txBody>
          <a:bodyPr/>
          <a:lstStyle/>
          <a:p>
            <a:fld id="{35ED7BA0-E013-4163-9C91-2A0E74B34455}" type="datetimeFigureOut">
              <a:rPr lang="en-IN" smtClean="0"/>
              <a:t>16-01-2026</a:t>
            </a:fld>
            <a:endParaRPr lang="en-IN"/>
          </a:p>
        </p:txBody>
      </p:sp>
      <p:sp>
        <p:nvSpPr>
          <p:cNvPr id="5" name="Footer Placeholder 4">
            <a:extLst>
              <a:ext uri="{FF2B5EF4-FFF2-40B4-BE49-F238E27FC236}">
                <a16:creationId xmlns:a16="http://schemas.microsoft.com/office/drawing/2014/main" id="{90078633-D0AC-C263-39E0-04CF5023FEC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1A9176-7342-9355-C13C-29026073094F}"/>
              </a:ext>
            </a:extLst>
          </p:cNvPr>
          <p:cNvSpPr>
            <a:spLocks noGrp="1"/>
          </p:cNvSpPr>
          <p:nvPr>
            <p:ph type="sldNum" sz="quarter" idx="12"/>
          </p:nvPr>
        </p:nvSpPr>
        <p:spPr/>
        <p:txBody>
          <a:bodyPr/>
          <a:lstStyle/>
          <a:p>
            <a:fld id="{8FE30FAF-46CC-4F81-9794-FFAD6830753D}" type="slidenum">
              <a:rPr lang="en-IN" smtClean="0"/>
              <a:t>‹#›</a:t>
            </a:fld>
            <a:endParaRPr lang="en-IN"/>
          </a:p>
        </p:txBody>
      </p:sp>
    </p:spTree>
    <p:extLst>
      <p:ext uri="{BB962C8B-B14F-4D97-AF65-F5344CB8AC3E}">
        <p14:creationId xmlns:p14="http://schemas.microsoft.com/office/powerpoint/2010/main" val="8768508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12A41-9F3F-18B2-C987-7DC9A9BBE40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8306FAF-AFAD-6350-9BBA-F6377899B91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7B0696-DBE7-CA2D-7C87-92C24342BFC9}"/>
              </a:ext>
            </a:extLst>
          </p:cNvPr>
          <p:cNvSpPr>
            <a:spLocks noGrp="1"/>
          </p:cNvSpPr>
          <p:nvPr>
            <p:ph type="dt" sz="half" idx="10"/>
          </p:nvPr>
        </p:nvSpPr>
        <p:spPr/>
        <p:txBody>
          <a:bodyPr/>
          <a:lstStyle/>
          <a:p>
            <a:fld id="{35ED7BA0-E013-4163-9C91-2A0E74B34455}" type="datetimeFigureOut">
              <a:rPr lang="en-IN" smtClean="0"/>
              <a:t>16-01-2026</a:t>
            </a:fld>
            <a:endParaRPr lang="en-IN"/>
          </a:p>
        </p:txBody>
      </p:sp>
      <p:sp>
        <p:nvSpPr>
          <p:cNvPr id="5" name="Footer Placeholder 4">
            <a:extLst>
              <a:ext uri="{FF2B5EF4-FFF2-40B4-BE49-F238E27FC236}">
                <a16:creationId xmlns:a16="http://schemas.microsoft.com/office/drawing/2014/main" id="{75955890-3617-FAAB-9DDC-0C337CCC074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114541-CA45-ED87-6845-D150DDAFA694}"/>
              </a:ext>
            </a:extLst>
          </p:cNvPr>
          <p:cNvSpPr>
            <a:spLocks noGrp="1"/>
          </p:cNvSpPr>
          <p:nvPr>
            <p:ph type="sldNum" sz="quarter" idx="12"/>
          </p:nvPr>
        </p:nvSpPr>
        <p:spPr/>
        <p:txBody>
          <a:bodyPr/>
          <a:lstStyle/>
          <a:p>
            <a:fld id="{8FE30FAF-46CC-4F81-9794-FFAD6830753D}" type="slidenum">
              <a:rPr lang="en-IN" smtClean="0"/>
              <a:t>‹#›</a:t>
            </a:fld>
            <a:endParaRPr lang="en-IN"/>
          </a:p>
        </p:txBody>
      </p:sp>
    </p:spTree>
    <p:extLst>
      <p:ext uri="{BB962C8B-B14F-4D97-AF65-F5344CB8AC3E}">
        <p14:creationId xmlns:p14="http://schemas.microsoft.com/office/powerpoint/2010/main" val="32077826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4882B-8127-C6C7-E2D1-57820A625A3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059C971-574D-9CBA-CDA0-AF62FFA5D70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04D12DB-8CE3-7C0B-37F6-449ADBE44D3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5C63BBA-4828-458E-65E5-7DE476176444}"/>
              </a:ext>
            </a:extLst>
          </p:cNvPr>
          <p:cNvSpPr>
            <a:spLocks noGrp="1"/>
          </p:cNvSpPr>
          <p:nvPr>
            <p:ph type="dt" sz="half" idx="10"/>
          </p:nvPr>
        </p:nvSpPr>
        <p:spPr/>
        <p:txBody>
          <a:bodyPr/>
          <a:lstStyle/>
          <a:p>
            <a:fld id="{35ED7BA0-E013-4163-9C91-2A0E74B34455}" type="datetimeFigureOut">
              <a:rPr lang="en-IN" smtClean="0"/>
              <a:t>16-01-2026</a:t>
            </a:fld>
            <a:endParaRPr lang="en-IN"/>
          </a:p>
        </p:txBody>
      </p:sp>
      <p:sp>
        <p:nvSpPr>
          <p:cNvPr id="6" name="Footer Placeholder 5">
            <a:extLst>
              <a:ext uri="{FF2B5EF4-FFF2-40B4-BE49-F238E27FC236}">
                <a16:creationId xmlns:a16="http://schemas.microsoft.com/office/drawing/2014/main" id="{49238281-1B10-118B-4C9F-AA0B6FE66ED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CCA49A-4899-5E7E-09FE-9E5AE73B4740}"/>
              </a:ext>
            </a:extLst>
          </p:cNvPr>
          <p:cNvSpPr>
            <a:spLocks noGrp="1"/>
          </p:cNvSpPr>
          <p:nvPr>
            <p:ph type="sldNum" sz="quarter" idx="12"/>
          </p:nvPr>
        </p:nvSpPr>
        <p:spPr/>
        <p:txBody>
          <a:bodyPr/>
          <a:lstStyle/>
          <a:p>
            <a:fld id="{8FE30FAF-46CC-4F81-9794-FFAD6830753D}" type="slidenum">
              <a:rPr lang="en-IN" smtClean="0"/>
              <a:t>‹#›</a:t>
            </a:fld>
            <a:endParaRPr lang="en-IN"/>
          </a:p>
        </p:txBody>
      </p:sp>
    </p:spTree>
    <p:extLst>
      <p:ext uri="{BB962C8B-B14F-4D97-AF65-F5344CB8AC3E}">
        <p14:creationId xmlns:p14="http://schemas.microsoft.com/office/powerpoint/2010/main" val="8118521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42EEF-A307-B6D7-E0A7-C16E4151CDC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FDE9F41-E582-A888-9691-4EA39422DE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B25627-E05B-83BF-E19B-7B4619A8614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67C4AD0-8F94-C20B-A17E-78431D4B4E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23C35FA-B865-AA33-F7AB-57D28B9D6E5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1AE95C6-5415-3531-14FE-4F5C767401AD}"/>
              </a:ext>
            </a:extLst>
          </p:cNvPr>
          <p:cNvSpPr>
            <a:spLocks noGrp="1"/>
          </p:cNvSpPr>
          <p:nvPr>
            <p:ph type="dt" sz="half" idx="10"/>
          </p:nvPr>
        </p:nvSpPr>
        <p:spPr/>
        <p:txBody>
          <a:bodyPr/>
          <a:lstStyle/>
          <a:p>
            <a:fld id="{35ED7BA0-E013-4163-9C91-2A0E74B34455}" type="datetimeFigureOut">
              <a:rPr lang="en-IN" smtClean="0"/>
              <a:t>16-01-2026</a:t>
            </a:fld>
            <a:endParaRPr lang="en-IN"/>
          </a:p>
        </p:txBody>
      </p:sp>
      <p:sp>
        <p:nvSpPr>
          <p:cNvPr id="8" name="Footer Placeholder 7">
            <a:extLst>
              <a:ext uri="{FF2B5EF4-FFF2-40B4-BE49-F238E27FC236}">
                <a16:creationId xmlns:a16="http://schemas.microsoft.com/office/drawing/2014/main" id="{15190D38-18A9-160D-07D9-BB1B42B3B2A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6FF280C-2693-4498-7D5F-97A6251B81AA}"/>
              </a:ext>
            </a:extLst>
          </p:cNvPr>
          <p:cNvSpPr>
            <a:spLocks noGrp="1"/>
          </p:cNvSpPr>
          <p:nvPr>
            <p:ph type="sldNum" sz="quarter" idx="12"/>
          </p:nvPr>
        </p:nvSpPr>
        <p:spPr/>
        <p:txBody>
          <a:bodyPr/>
          <a:lstStyle/>
          <a:p>
            <a:fld id="{8FE30FAF-46CC-4F81-9794-FFAD6830753D}" type="slidenum">
              <a:rPr lang="en-IN" smtClean="0"/>
              <a:t>‹#›</a:t>
            </a:fld>
            <a:endParaRPr lang="en-IN"/>
          </a:p>
        </p:txBody>
      </p:sp>
    </p:spTree>
    <p:extLst>
      <p:ext uri="{BB962C8B-B14F-4D97-AF65-F5344CB8AC3E}">
        <p14:creationId xmlns:p14="http://schemas.microsoft.com/office/powerpoint/2010/main" val="39955091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F4EE0-7076-7A07-772A-8F0BD00C196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82417A8-6A75-5597-6E9B-10E978699ADD}"/>
              </a:ext>
            </a:extLst>
          </p:cNvPr>
          <p:cNvSpPr>
            <a:spLocks noGrp="1"/>
          </p:cNvSpPr>
          <p:nvPr>
            <p:ph type="dt" sz="half" idx="10"/>
          </p:nvPr>
        </p:nvSpPr>
        <p:spPr/>
        <p:txBody>
          <a:bodyPr/>
          <a:lstStyle/>
          <a:p>
            <a:fld id="{35ED7BA0-E013-4163-9C91-2A0E74B34455}" type="datetimeFigureOut">
              <a:rPr lang="en-IN" smtClean="0"/>
              <a:t>16-01-2026</a:t>
            </a:fld>
            <a:endParaRPr lang="en-IN"/>
          </a:p>
        </p:txBody>
      </p:sp>
      <p:sp>
        <p:nvSpPr>
          <p:cNvPr id="4" name="Footer Placeholder 3">
            <a:extLst>
              <a:ext uri="{FF2B5EF4-FFF2-40B4-BE49-F238E27FC236}">
                <a16:creationId xmlns:a16="http://schemas.microsoft.com/office/drawing/2014/main" id="{B3A35424-F75C-11B1-5E6D-70DBFFD63C5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F6244DA-4972-CCFF-3E02-F5452ADE3EF5}"/>
              </a:ext>
            </a:extLst>
          </p:cNvPr>
          <p:cNvSpPr>
            <a:spLocks noGrp="1"/>
          </p:cNvSpPr>
          <p:nvPr>
            <p:ph type="sldNum" sz="quarter" idx="12"/>
          </p:nvPr>
        </p:nvSpPr>
        <p:spPr/>
        <p:txBody>
          <a:bodyPr/>
          <a:lstStyle/>
          <a:p>
            <a:fld id="{8FE30FAF-46CC-4F81-9794-FFAD6830753D}" type="slidenum">
              <a:rPr lang="en-IN" smtClean="0"/>
              <a:t>‹#›</a:t>
            </a:fld>
            <a:endParaRPr lang="en-IN"/>
          </a:p>
        </p:txBody>
      </p:sp>
    </p:spTree>
    <p:extLst>
      <p:ext uri="{BB962C8B-B14F-4D97-AF65-F5344CB8AC3E}">
        <p14:creationId xmlns:p14="http://schemas.microsoft.com/office/powerpoint/2010/main" val="34310455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8DC5F2-7AB0-6E9B-55BA-1F6D15A89051}"/>
              </a:ext>
            </a:extLst>
          </p:cNvPr>
          <p:cNvSpPr>
            <a:spLocks noGrp="1"/>
          </p:cNvSpPr>
          <p:nvPr>
            <p:ph type="dt" sz="half" idx="10"/>
          </p:nvPr>
        </p:nvSpPr>
        <p:spPr/>
        <p:txBody>
          <a:bodyPr/>
          <a:lstStyle/>
          <a:p>
            <a:fld id="{35ED7BA0-E013-4163-9C91-2A0E74B34455}" type="datetimeFigureOut">
              <a:rPr lang="en-IN" smtClean="0"/>
              <a:t>16-01-2026</a:t>
            </a:fld>
            <a:endParaRPr lang="en-IN"/>
          </a:p>
        </p:txBody>
      </p:sp>
      <p:sp>
        <p:nvSpPr>
          <p:cNvPr id="3" name="Footer Placeholder 2">
            <a:extLst>
              <a:ext uri="{FF2B5EF4-FFF2-40B4-BE49-F238E27FC236}">
                <a16:creationId xmlns:a16="http://schemas.microsoft.com/office/drawing/2014/main" id="{308FABF6-5CAD-6071-E43D-FB55A591B6F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AB1C434-E186-21AD-CC2D-84A308060187}"/>
              </a:ext>
            </a:extLst>
          </p:cNvPr>
          <p:cNvSpPr>
            <a:spLocks noGrp="1"/>
          </p:cNvSpPr>
          <p:nvPr>
            <p:ph type="sldNum" sz="quarter" idx="12"/>
          </p:nvPr>
        </p:nvSpPr>
        <p:spPr/>
        <p:txBody>
          <a:bodyPr/>
          <a:lstStyle/>
          <a:p>
            <a:fld id="{8FE30FAF-46CC-4F81-9794-FFAD6830753D}" type="slidenum">
              <a:rPr lang="en-IN" smtClean="0"/>
              <a:t>‹#›</a:t>
            </a:fld>
            <a:endParaRPr lang="en-IN"/>
          </a:p>
        </p:txBody>
      </p:sp>
    </p:spTree>
    <p:extLst>
      <p:ext uri="{BB962C8B-B14F-4D97-AF65-F5344CB8AC3E}">
        <p14:creationId xmlns:p14="http://schemas.microsoft.com/office/powerpoint/2010/main" val="23331168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46B7D-002A-2375-94D6-8F37B9C647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7ABCAA5-7EB4-717E-8AB4-1A7E9A6F9D9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A37222A-91D5-E4C6-E739-861EFA2E49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90A4E2-CDAE-D142-5DBA-27B600F00327}"/>
              </a:ext>
            </a:extLst>
          </p:cNvPr>
          <p:cNvSpPr>
            <a:spLocks noGrp="1"/>
          </p:cNvSpPr>
          <p:nvPr>
            <p:ph type="dt" sz="half" idx="10"/>
          </p:nvPr>
        </p:nvSpPr>
        <p:spPr/>
        <p:txBody>
          <a:bodyPr/>
          <a:lstStyle/>
          <a:p>
            <a:fld id="{35ED7BA0-E013-4163-9C91-2A0E74B34455}" type="datetimeFigureOut">
              <a:rPr lang="en-IN" smtClean="0"/>
              <a:t>16-01-2026</a:t>
            </a:fld>
            <a:endParaRPr lang="en-IN"/>
          </a:p>
        </p:txBody>
      </p:sp>
      <p:sp>
        <p:nvSpPr>
          <p:cNvPr id="6" name="Footer Placeholder 5">
            <a:extLst>
              <a:ext uri="{FF2B5EF4-FFF2-40B4-BE49-F238E27FC236}">
                <a16:creationId xmlns:a16="http://schemas.microsoft.com/office/drawing/2014/main" id="{10EBDB2A-1ACF-1F5A-8920-FAD1B744570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A88EA34-AF7E-E580-C5ED-E52A64DAAEC1}"/>
              </a:ext>
            </a:extLst>
          </p:cNvPr>
          <p:cNvSpPr>
            <a:spLocks noGrp="1"/>
          </p:cNvSpPr>
          <p:nvPr>
            <p:ph type="sldNum" sz="quarter" idx="12"/>
          </p:nvPr>
        </p:nvSpPr>
        <p:spPr/>
        <p:txBody>
          <a:bodyPr/>
          <a:lstStyle/>
          <a:p>
            <a:fld id="{8FE30FAF-46CC-4F81-9794-FFAD6830753D}" type="slidenum">
              <a:rPr lang="en-IN" smtClean="0"/>
              <a:t>‹#›</a:t>
            </a:fld>
            <a:endParaRPr lang="en-IN"/>
          </a:p>
        </p:txBody>
      </p:sp>
    </p:spTree>
    <p:extLst>
      <p:ext uri="{BB962C8B-B14F-4D97-AF65-F5344CB8AC3E}">
        <p14:creationId xmlns:p14="http://schemas.microsoft.com/office/powerpoint/2010/main" val="6845335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DBE6B-B297-C24D-2B48-78A20D1C30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64F34AC-D6AA-5F91-BB2B-1FD7877852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8241983-0F66-3497-DD73-3A4D185E89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5FCC7F-685D-62BD-B622-D7E854D007EF}"/>
              </a:ext>
            </a:extLst>
          </p:cNvPr>
          <p:cNvSpPr>
            <a:spLocks noGrp="1"/>
          </p:cNvSpPr>
          <p:nvPr>
            <p:ph type="dt" sz="half" idx="10"/>
          </p:nvPr>
        </p:nvSpPr>
        <p:spPr/>
        <p:txBody>
          <a:bodyPr/>
          <a:lstStyle/>
          <a:p>
            <a:fld id="{35ED7BA0-E013-4163-9C91-2A0E74B34455}" type="datetimeFigureOut">
              <a:rPr lang="en-IN" smtClean="0"/>
              <a:t>16-01-2026</a:t>
            </a:fld>
            <a:endParaRPr lang="en-IN"/>
          </a:p>
        </p:txBody>
      </p:sp>
      <p:sp>
        <p:nvSpPr>
          <p:cNvPr id="6" name="Footer Placeholder 5">
            <a:extLst>
              <a:ext uri="{FF2B5EF4-FFF2-40B4-BE49-F238E27FC236}">
                <a16:creationId xmlns:a16="http://schemas.microsoft.com/office/drawing/2014/main" id="{B453413F-F0B6-5150-2160-445EAB65657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BF867C5-4648-A870-D5F0-F2F410C69D86}"/>
              </a:ext>
            </a:extLst>
          </p:cNvPr>
          <p:cNvSpPr>
            <a:spLocks noGrp="1"/>
          </p:cNvSpPr>
          <p:nvPr>
            <p:ph type="sldNum" sz="quarter" idx="12"/>
          </p:nvPr>
        </p:nvSpPr>
        <p:spPr/>
        <p:txBody>
          <a:bodyPr/>
          <a:lstStyle/>
          <a:p>
            <a:fld id="{8FE30FAF-46CC-4F81-9794-FFAD6830753D}" type="slidenum">
              <a:rPr lang="en-IN" smtClean="0"/>
              <a:t>‹#›</a:t>
            </a:fld>
            <a:endParaRPr lang="en-IN"/>
          </a:p>
        </p:txBody>
      </p:sp>
    </p:spTree>
    <p:extLst>
      <p:ext uri="{BB962C8B-B14F-4D97-AF65-F5344CB8AC3E}">
        <p14:creationId xmlns:p14="http://schemas.microsoft.com/office/powerpoint/2010/main" val="1689291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59ED1-791C-B646-6993-3898C672F11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A1DA76-A704-01E7-48BB-3ED0F2825AF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7CF620-261B-33D8-DCA0-EC165A10BA9C}"/>
              </a:ext>
            </a:extLst>
          </p:cNvPr>
          <p:cNvSpPr>
            <a:spLocks noGrp="1"/>
          </p:cNvSpPr>
          <p:nvPr>
            <p:ph type="dt" sz="half" idx="10"/>
          </p:nvPr>
        </p:nvSpPr>
        <p:spPr/>
        <p:txBody>
          <a:bodyPr/>
          <a:lstStyle/>
          <a:p>
            <a:fld id="{35ED7BA0-E013-4163-9C91-2A0E74B34455}" type="datetimeFigureOut">
              <a:rPr lang="en-IN" smtClean="0"/>
              <a:t>16-01-2026</a:t>
            </a:fld>
            <a:endParaRPr lang="en-IN"/>
          </a:p>
        </p:txBody>
      </p:sp>
      <p:sp>
        <p:nvSpPr>
          <p:cNvPr id="5" name="Footer Placeholder 4">
            <a:extLst>
              <a:ext uri="{FF2B5EF4-FFF2-40B4-BE49-F238E27FC236}">
                <a16:creationId xmlns:a16="http://schemas.microsoft.com/office/drawing/2014/main" id="{FAA71E44-5290-CBA0-70E9-4077EF8D85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E6CAFD-D7F6-8847-414B-099AAC9D84B3}"/>
              </a:ext>
            </a:extLst>
          </p:cNvPr>
          <p:cNvSpPr>
            <a:spLocks noGrp="1"/>
          </p:cNvSpPr>
          <p:nvPr>
            <p:ph type="sldNum" sz="quarter" idx="12"/>
          </p:nvPr>
        </p:nvSpPr>
        <p:spPr/>
        <p:txBody>
          <a:bodyPr/>
          <a:lstStyle/>
          <a:p>
            <a:fld id="{8FE30FAF-46CC-4F81-9794-FFAD6830753D}" type="slidenum">
              <a:rPr lang="en-IN" smtClean="0"/>
              <a:t>‹#›</a:t>
            </a:fld>
            <a:endParaRPr lang="en-IN"/>
          </a:p>
        </p:txBody>
      </p:sp>
    </p:spTree>
    <p:extLst>
      <p:ext uri="{BB962C8B-B14F-4D97-AF65-F5344CB8AC3E}">
        <p14:creationId xmlns:p14="http://schemas.microsoft.com/office/powerpoint/2010/main" val="9664022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CB08BE-D3F2-3B03-A3B6-D83ECC9D89C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9EDFAD9-D394-E30F-0EB2-35F046940CB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A98B33-8733-B3FE-2D12-29825657A8E0}"/>
              </a:ext>
            </a:extLst>
          </p:cNvPr>
          <p:cNvSpPr>
            <a:spLocks noGrp="1"/>
          </p:cNvSpPr>
          <p:nvPr>
            <p:ph type="dt" sz="half" idx="10"/>
          </p:nvPr>
        </p:nvSpPr>
        <p:spPr/>
        <p:txBody>
          <a:bodyPr/>
          <a:lstStyle/>
          <a:p>
            <a:fld id="{35ED7BA0-E013-4163-9C91-2A0E74B34455}" type="datetimeFigureOut">
              <a:rPr lang="en-IN" smtClean="0"/>
              <a:t>16-01-2026</a:t>
            </a:fld>
            <a:endParaRPr lang="en-IN"/>
          </a:p>
        </p:txBody>
      </p:sp>
      <p:sp>
        <p:nvSpPr>
          <p:cNvPr id="5" name="Footer Placeholder 4">
            <a:extLst>
              <a:ext uri="{FF2B5EF4-FFF2-40B4-BE49-F238E27FC236}">
                <a16:creationId xmlns:a16="http://schemas.microsoft.com/office/drawing/2014/main" id="{15E25BD9-1044-FC13-7632-64011B2E53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EC562B2-099A-CCA9-2F7E-41E819734935}"/>
              </a:ext>
            </a:extLst>
          </p:cNvPr>
          <p:cNvSpPr>
            <a:spLocks noGrp="1"/>
          </p:cNvSpPr>
          <p:nvPr>
            <p:ph type="sldNum" sz="quarter" idx="12"/>
          </p:nvPr>
        </p:nvSpPr>
        <p:spPr/>
        <p:txBody>
          <a:bodyPr/>
          <a:lstStyle/>
          <a:p>
            <a:fld id="{8FE30FAF-46CC-4F81-9794-FFAD6830753D}" type="slidenum">
              <a:rPr lang="en-IN" smtClean="0"/>
              <a:t>‹#›</a:t>
            </a:fld>
            <a:endParaRPr lang="en-IN"/>
          </a:p>
        </p:txBody>
      </p:sp>
    </p:spTree>
    <p:extLst>
      <p:ext uri="{BB962C8B-B14F-4D97-AF65-F5344CB8AC3E}">
        <p14:creationId xmlns:p14="http://schemas.microsoft.com/office/powerpoint/2010/main" val="5035711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B9C3C8-75E7-928C-95C3-D1F39A0C61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83AEE87-DD29-2B88-7AF4-6AFB1FF135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32846D9-996F-515F-CEED-F38C816104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ED7BA0-E013-4163-9C91-2A0E74B34455}" type="datetimeFigureOut">
              <a:rPr lang="en-IN" smtClean="0"/>
              <a:t>16-01-2026</a:t>
            </a:fld>
            <a:endParaRPr lang="en-IN"/>
          </a:p>
        </p:txBody>
      </p:sp>
      <p:sp>
        <p:nvSpPr>
          <p:cNvPr id="5" name="Footer Placeholder 4">
            <a:extLst>
              <a:ext uri="{FF2B5EF4-FFF2-40B4-BE49-F238E27FC236}">
                <a16:creationId xmlns:a16="http://schemas.microsoft.com/office/drawing/2014/main" id="{68860B59-F65F-90AA-9D75-769B51C283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3881B81-921E-0BED-37E6-91A9A4D897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E30FAF-46CC-4F81-9794-FFAD6830753D}" type="slidenum">
              <a:rPr lang="en-IN" smtClean="0"/>
              <a:t>‹#›</a:t>
            </a:fld>
            <a:endParaRPr lang="en-IN"/>
          </a:p>
        </p:txBody>
      </p:sp>
    </p:spTree>
    <p:extLst>
      <p:ext uri="{BB962C8B-B14F-4D97-AF65-F5344CB8AC3E}">
        <p14:creationId xmlns:p14="http://schemas.microsoft.com/office/powerpoint/2010/main" val="9210275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www.nseit.com/" TargetMode="External"/><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Oval 19">
            <a:extLst>
              <a:ext uri="{FF2B5EF4-FFF2-40B4-BE49-F238E27FC236}">
                <a16:creationId xmlns:a16="http://schemas.microsoft.com/office/drawing/2014/main" id="{B96FD630-32F2-C85B-000B-E5AE4FA15842}"/>
              </a:ext>
            </a:extLst>
          </p:cNvPr>
          <p:cNvSpPr/>
          <p:nvPr/>
        </p:nvSpPr>
        <p:spPr>
          <a:xfrm>
            <a:off x="-4916" y="-1"/>
            <a:ext cx="1962761" cy="1843239"/>
          </a:xfrm>
          <a:prstGeom prst="ellipse">
            <a:avLst/>
          </a:prstGeom>
          <a:solidFill>
            <a:srgbClr val="4A90E2">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Oval 20">
            <a:extLst>
              <a:ext uri="{FF2B5EF4-FFF2-40B4-BE49-F238E27FC236}">
                <a16:creationId xmlns:a16="http://schemas.microsoft.com/office/drawing/2014/main" id="{28063641-ADA4-A07B-AE40-0EFFDFF3676A}"/>
              </a:ext>
            </a:extLst>
          </p:cNvPr>
          <p:cNvSpPr/>
          <p:nvPr/>
        </p:nvSpPr>
        <p:spPr>
          <a:xfrm>
            <a:off x="1367910" y="-4461"/>
            <a:ext cx="1109820" cy="1031333"/>
          </a:xfrm>
          <a:prstGeom prst="ellipse">
            <a:avLst/>
          </a:prstGeom>
          <a:solidFill>
            <a:schemeClr val="bg1">
              <a:lumMod val="95000"/>
            </a:schemeClr>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Oval 21">
            <a:extLst>
              <a:ext uri="{FF2B5EF4-FFF2-40B4-BE49-F238E27FC236}">
                <a16:creationId xmlns:a16="http://schemas.microsoft.com/office/drawing/2014/main" id="{28DF8A75-7E60-1121-EBAC-840427788FBE}"/>
              </a:ext>
            </a:extLst>
          </p:cNvPr>
          <p:cNvSpPr/>
          <p:nvPr/>
        </p:nvSpPr>
        <p:spPr>
          <a:xfrm>
            <a:off x="215077" y="1460428"/>
            <a:ext cx="728820" cy="702550"/>
          </a:xfrm>
          <a:prstGeom prst="ellipse">
            <a:avLst/>
          </a:prstGeom>
          <a:solidFill>
            <a:schemeClr val="tx2">
              <a:lumMod val="20000"/>
              <a:lumOff val="80000"/>
            </a:schemeClr>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8587697E-BF6E-E9E6-F7B8-4182BF040D90}"/>
              </a:ext>
            </a:extLst>
          </p:cNvPr>
          <p:cNvSpPr txBox="1"/>
          <p:nvPr/>
        </p:nvSpPr>
        <p:spPr>
          <a:xfrm>
            <a:off x="1630013" y="491798"/>
            <a:ext cx="7239670" cy="1077218"/>
          </a:xfrm>
          <a:prstGeom prst="rect">
            <a:avLst/>
          </a:prstGeom>
          <a:noFill/>
        </p:spPr>
        <p:txBody>
          <a:bodyPr wrap="square">
            <a:spAutoFit/>
          </a:bodyPr>
          <a:lstStyle/>
          <a:p>
            <a:pPr>
              <a:buNone/>
            </a:pPr>
            <a:r>
              <a:rPr lang="en-US" sz="3200" b="1" dirty="0">
                <a:solidFill>
                  <a:srgbClr val="546271"/>
                </a:solidFill>
                <a:effectLst/>
              </a:rPr>
              <a:t>STANDARD OPERATING PROCEDURE</a:t>
            </a:r>
          </a:p>
          <a:p>
            <a:pPr>
              <a:buNone/>
            </a:pPr>
            <a:r>
              <a:rPr lang="en-US" sz="3200" b="1" dirty="0">
                <a:solidFill>
                  <a:srgbClr val="478EE1"/>
                </a:solidFill>
              </a:rPr>
              <a:t>Venue - Data Analytics &amp; Intelligence</a:t>
            </a:r>
          </a:p>
        </p:txBody>
      </p:sp>
      <p:sp>
        <p:nvSpPr>
          <p:cNvPr id="28" name="TextBox 27">
            <a:extLst>
              <a:ext uri="{FF2B5EF4-FFF2-40B4-BE49-F238E27FC236}">
                <a16:creationId xmlns:a16="http://schemas.microsoft.com/office/drawing/2014/main" id="{0DC77B9F-55F0-F987-83A9-507C950D5A59}"/>
              </a:ext>
            </a:extLst>
          </p:cNvPr>
          <p:cNvSpPr txBox="1"/>
          <p:nvPr/>
        </p:nvSpPr>
        <p:spPr>
          <a:xfrm>
            <a:off x="2380352" y="2042912"/>
            <a:ext cx="1800000" cy="369332"/>
          </a:xfrm>
          <a:prstGeom prst="rect">
            <a:avLst/>
          </a:prstGeom>
          <a:solidFill>
            <a:srgbClr val="104C75">
              <a:alpha val="80000"/>
            </a:srgbClr>
          </a:solidFill>
        </p:spPr>
        <p:txBody>
          <a:bodyPr wrap="square">
            <a:spAutoFit/>
          </a:bodyPr>
          <a:lstStyle/>
          <a:p>
            <a:r>
              <a:rPr lang="en-US" b="1" dirty="0">
                <a:solidFill>
                  <a:schemeClr val="bg1"/>
                </a:solidFill>
              </a:rPr>
              <a:t>Version : </a:t>
            </a:r>
            <a:endParaRPr lang="en-IN" dirty="0">
              <a:solidFill>
                <a:schemeClr val="bg1"/>
              </a:solidFill>
            </a:endParaRPr>
          </a:p>
        </p:txBody>
      </p:sp>
      <p:sp>
        <p:nvSpPr>
          <p:cNvPr id="29" name="TextBox 28">
            <a:extLst>
              <a:ext uri="{FF2B5EF4-FFF2-40B4-BE49-F238E27FC236}">
                <a16:creationId xmlns:a16="http://schemas.microsoft.com/office/drawing/2014/main" id="{F984B4FB-6349-0A0E-D827-50475991545E}"/>
              </a:ext>
            </a:extLst>
          </p:cNvPr>
          <p:cNvSpPr txBox="1"/>
          <p:nvPr/>
        </p:nvSpPr>
        <p:spPr>
          <a:xfrm>
            <a:off x="2380352" y="2573834"/>
            <a:ext cx="1800000" cy="369332"/>
          </a:xfrm>
          <a:prstGeom prst="rect">
            <a:avLst/>
          </a:prstGeom>
          <a:solidFill>
            <a:srgbClr val="104C75">
              <a:alpha val="80000"/>
            </a:srgbClr>
          </a:solidFill>
        </p:spPr>
        <p:txBody>
          <a:bodyPr wrap="square">
            <a:spAutoFit/>
          </a:bodyPr>
          <a:lstStyle/>
          <a:p>
            <a:r>
              <a:rPr lang="en-US" b="1" dirty="0">
                <a:solidFill>
                  <a:schemeClr val="bg1"/>
                </a:solidFill>
              </a:rPr>
              <a:t>Effective Date : </a:t>
            </a:r>
            <a:endParaRPr lang="en-IN" dirty="0">
              <a:solidFill>
                <a:schemeClr val="bg1"/>
              </a:solidFill>
            </a:endParaRPr>
          </a:p>
        </p:txBody>
      </p:sp>
      <p:sp>
        <p:nvSpPr>
          <p:cNvPr id="30" name="TextBox 29">
            <a:extLst>
              <a:ext uri="{FF2B5EF4-FFF2-40B4-BE49-F238E27FC236}">
                <a16:creationId xmlns:a16="http://schemas.microsoft.com/office/drawing/2014/main" id="{56851D76-22C9-3F9E-DEF8-D969957F8A7E}"/>
              </a:ext>
            </a:extLst>
          </p:cNvPr>
          <p:cNvSpPr txBox="1"/>
          <p:nvPr/>
        </p:nvSpPr>
        <p:spPr>
          <a:xfrm>
            <a:off x="2380351" y="3104756"/>
            <a:ext cx="2407185" cy="369332"/>
          </a:xfrm>
          <a:prstGeom prst="rect">
            <a:avLst/>
          </a:prstGeom>
          <a:solidFill>
            <a:srgbClr val="104C75">
              <a:alpha val="80000"/>
            </a:srgbClr>
          </a:solidFill>
        </p:spPr>
        <p:txBody>
          <a:bodyPr wrap="square">
            <a:spAutoFit/>
          </a:bodyPr>
          <a:lstStyle/>
          <a:p>
            <a:r>
              <a:rPr lang="en-US" b="1" dirty="0">
                <a:solidFill>
                  <a:schemeClr val="bg1"/>
                </a:solidFill>
              </a:rPr>
              <a:t>Owner / Department : </a:t>
            </a:r>
            <a:endParaRPr lang="en-IN" dirty="0">
              <a:solidFill>
                <a:schemeClr val="bg1"/>
              </a:solidFill>
            </a:endParaRPr>
          </a:p>
        </p:txBody>
      </p:sp>
      <p:sp>
        <p:nvSpPr>
          <p:cNvPr id="31" name="TextBox 30">
            <a:extLst>
              <a:ext uri="{FF2B5EF4-FFF2-40B4-BE49-F238E27FC236}">
                <a16:creationId xmlns:a16="http://schemas.microsoft.com/office/drawing/2014/main" id="{93FB6220-B0B2-A1BD-31B7-5D4F30021711}"/>
              </a:ext>
            </a:extLst>
          </p:cNvPr>
          <p:cNvSpPr txBox="1"/>
          <p:nvPr/>
        </p:nvSpPr>
        <p:spPr>
          <a:xfrm>
            <a:off x="2380352" y="3635678"/>
            <a:ext cx="1800000" cy="369332"/>
          </a:xfrm>
          <a:prstGeom prst="rect">
            <a:avLst/>
          </a:prstGeom>
          <a:solidFill>
            <a:srgbClr val="104C75">
              <a:alpha val="80000"/>
            </a:srgbClr>
          </a:solidFill>
        </p:spPr>
        <p:txBody>
          <a:bodyPr wrap="square">
            <a:spAutoFit/>
          </a:bodyPr>
          <a:lstStyle/>
          <a:p>
            <a:r>
              <a:rPr lang="en-US" b="1" dirty="0">
                <a:solidFill>
                  <a:schemeClr val="bg1"/>
                </a:solidFill>
              </a:rPr>
              <a:t>Prepared by : </a:t>
            </a:r>
            <a:endParaRPr lang="en-IN" dirty="0">
              <a:solidFill>
                <a:schemeClr val="bg1"/>
              </a:solidFill>
            </a:endParaRPr>
          </a:p>
        </p:txBody>
      </p:sp>
      <p:sp>
        <p:nvSpPr>
          <p:cNvPr id="33" name="TextBox 32">
            <a:extLst>
              <a:ext uri="{FF2B5EF4-FFF2-40B4-BE49-F238E27FC236}">
                <a16:creationId xmlns:a16="http://schemas.microsoft.com/office/drawing/2014/main" id="{83880D94-A6E4-7B12-04D1-C1FC13CBEE4D}"/>
              </a:ext>
            </a:extLst>
          </p:cNvPr>
          <p:cNvSpPr txBox="1"/>
          <p:nvPr/>
        </p:nvSpPr>
        <p:spPr>
          <a:xfrm>
            <a:off x="2380352" y="4161944"/>
            <a:ext cx="1800000" cy="369332"/>
          </a:xfrm>
          <a:prstGeom prst="rect">
            <a:avLst/>
          </a:prstGeom>
          <a:solidFill>
            <a:srgbClr val="104C75">
              <a:alpha val="80000"/>
            </a:srgbClr>
          </a:solidFill>
        </p:spPr>
        <p:txBody>
          <a:bodyPr wrap="square">
            <a:spAutoFit/>
          </a:bodyPr>
          <a:lstStyle/>
          <a:p>
            <a:r>
              <a:rPr lang="en-US" b="1" dirty="0">
                <a:solidFill>
                  <a:schemeClr val="bg1"/>
                </a:solidFill>
              </a:rPr>
              <a:t>Review Cycle : </a:t>
            </a:r>
            <a:endParaRPr lang="en-IN" dirty="0">
              <a:solidFill>
                <a:schemeClr val="bg1"/>
              </a:solidFill>
            </a:endParaRPr>
          </a:p>
        </p:txBody>
      </p:sp>
      <p:sp>
        <p:nvSpPr>
          <p:cNvPr id="35" name="TextBox 34">
            <a:extLst>
              <a:ext uri="{FF2B5EF4-FFF2-40B4-BE49-F238E27FC236}">
                <a16:creationId xmlns:a16="http://schemas.microsoft.com/office/drawing/2014/main" id="{08D42792-CC00-E51C-5D2D-9E8CAC464D54}"/>
              </a:ext>
            </a:extLst>
          </p:cNvPr>
          <p:cNvSpPr txBox="1"/>
          <p:nvPr/>
        </p:nvSpPr>
        <p:spPr>
          <a:xfrm>
            <a:off x="4331071" y="2042912"/>
            <a:ext cx="2484000" cy="369332"/>
          </a:xfrm>
          <a:prstGeom prst="rect">
            <a:avLst/>
          </a:prstGeom>
          <a:noFill/>
          <a:ln>
            <a:solidFill>
              <a:schemeClr val="bg1">
                <a:lumMod val="85000"/>
              </a:schemeClr>
            </a:solidFill>
          </a:ln>
        </p:spPr>
        <p:txBody>
          <a:bodyPr wrap="square">
            <a:spAutoFit/>
          </a:bodyPr>
          <a:lstStyle/>
          <a:p>
            <a:r>
              <a:rPr lang="en-US" b="1" dirty="0">
                <a:solidFill>
                  <a:srgbClr val="546271"/>
                </a:solidFill>
              </a:rPr>
              <a:t>1.0</a:t>
            </a:r>
            <a:endParaRPr lang="en-IN" dirty="0">
              <a:solidFill>
                <a:srgbClr val="546271"/>
              </a:solidFill>
            </a:endParaRPr>
          </a:p>
        </p:txBody>
      </p:sp>
      <p:sp>
        <p:nvSpPr>
          <p:cNvPr id="36" name="TextBox 35">
            <a:extLst>
              <a:ext uri="{FF2B5EF4-FFF2-40B4-BE49-F238E27FC236}">
                <a16:creationId xmlns:a16="http://schemas.microsoft.com/office/drawing/2014/main" id="{444EF7BE-BA69-9463-04CE-169DC81970AF}"/>
              </a:ext>
            </a:extLst>
          </p:cNvPr>
          <p:cNvSpPr txBox="1"/>
          <p:nvPr/>
        </p:nvSpPr>
        <p:spPr>
          <a:xfrm>
            <a:off x="4331071" y="2573834"/>
            <a:ext cx="2484000" cy="369332"/>
          </a:xfrm>
          <a:prstGeom prst="rect">
            <a:avLst/>
          </a:prstGeom>
          <a:noFill/>
          <a:ln>
            <a:solidFill>
              <a:schemeClr val="bg1">
                <a:lumMod val="85000"/>
              </a:schemeClr>
            </a:solidFill>
          </a:ln>
        </p:spPr>
        <p:txBody>
          <a:bodyPr wrap="square">
            <a:spAutoFit/>
          </a:bodyPr>
          <a:lstStyle/>
          <a:p>
            <a:r>
              <a:rPr lang="en-US" b="1" dirty="0">
                <a:solidFill>
                  <a:srgbClr val="546271"/>
                </a:solidFill>
              </a:rPr>
              <a:t>15-Jan-2026</a:t>
            </a:r>
            <a:endParaRPr lang="en-IN" dirty="0">
              <a:solidFill>
                <a:srgbClr val="546271"/>
              </a:solidFill>
            </a:endParaRPr>
          </a:p>
        </p:txBody>
      </p:sp>
      <p:sp>
        <p:nvSpPr>
          <p:cNvPr id="37" name="TextBox 36">
            <a:extLst>
              <a:ext uri="{FF2B5EF4-FFF2-40B4-BE49-F238E27FC236}">
                <a16:creationId xmlns:a16="http://schemas.microsoft.com/office/drawing/2014/main" id="{74535A1D-A100-E0BD-701A-7D1BAABC2395}"/>
              </a:ext>
            </a:extLst>
          </p:cNvPr>
          <p:cNvSpPr txBox="1"/>
          <p:nvPr/>
        </p:nvSpPr>
        <p:spPr>
          <a:xfrm>
            <a:off x="4894951" y="3104756"/>
            <a:ext cx="2849149" cy="369332"/>
          </a:xfrm>
          <a:prstGeom prst="rect">
            <a:avLst/>
          </a:prstGeom>
          <a:noFill/>
          <a:ln>
            <a:solidFill>
              <a:schemeClr val="bg1">
                <a:lumMod val="85000"/>
              </a:schemeClr>
            </a:solidFill>
          </a:ln>
        </p:spPr>
        <p:txBody>
          <a:bodyPr wrap="square">
            <a:spAutoFit/>
          </a:bodyPr>
          <a:lstStyle/>
          <a:p>
            <a:r>
              <a:rPr lang="en-US" b="1" dirty="0">
                <a:solidFill>
                  <a:srgbClr val="546271"/>
                </a:solidFill>
              </a:rPr>
              <a:t>H. O. Operations (MIS)</a:t>
            </a:r>
            <a:endParaRPr lang="en-IN" dirty="0">
              <a:solidFill>
                <a:srgbClr val="546271"/>
              </a:solidFill>
            </a:endParaRPr>
          </a:p>
        </p:txBody>
      </p:sp>
      <p:sp>
        <p:nvSpPr>
          <p:cNvPr id="38" name="TextBox 37">
            <a:extLst>
              <a:ext uri="{FF2B5EF4-FFF2-40B4-BE49-F238E27FC236}">
                <a16:creationId xmlns:a16="http://schemas.microsoft.com/office/drawing/2014/main" id="{D007C9A6-1D55-08D2-D33B-A75CCDA3CF01}"/>
              </a:ext>
            </a:extLst>
          </p:cNvPr>
          <p:cNvSpPr txBox="1"/>
          <p:nvPr/>
        </p:nvSpPr>
        <p:spPr>
          <a:xfrm>
            <a:off x="4331071" y="3635678"/>
            <a:ext cx="2484000" cy="369332"/>
          </a:xfrm>
          <a:prstGeom prst="rect">
            <a:avLst/>
          </a:prstGeom>
          <a:noFill/>
          <a:ln>
            <a:solidFill>
              <a:schemeClr val="bg1">
                <a:lumMod val="85000"/>
              </a:schemeClr>
            </a:solidFill>
          </a:ln>
        </p:spPr>
        <p:txBody>
          <a:bodyPr wrap="square">
            <a:spAutoFit/>
          </a:bodyPr>
          <a:lstStyle/>
          <a:p>
            <a:r>
              <a:rPr lang="en-US" b="1" dirty="0">
                <a:solidFill>
                  <a:srgbClr val="546271"/>
                </a:solidFill>
              </a:rPr>
              <a:t>Prafull Chavan </a:t>
            </a:r>
            <a:endParaRPr lang="en-IN" dirty="0">
              <a:solidFill>
                <a:srgbClr val="546271"/>
              </a:solidFill>
            </a:endParaRPr>
          </a:p>
        </p:txBody>
      </p:sp>
      <p:sp>
        <p:nvSpPr>
          <p:cNvPr id="40" name="TextBox 39">
            <a:extLst>
              <a:ext uri="{FF2B5EF4-FFF2-40B4-BE49-F238E27FC236}">
                <a16:creationId xmlns:a16="http://schemas.microsoft.com/office/drawing/2014/main" id="{8D1E5FDB-32B8-369D-A0F5-F2BF3C352C9A}"/>
              </a:ext>
            </a:extLst>
          </p:cNvPr>
          <p:cNvSpPr txBox="1"/>
          <p:nvPr/>
        </p:nvSpPr>
        <p:spPr>
          <a:xfrm>
            <a:off x="4331071" y="4161944"/>
            <a:ext cx="2484000" cy="369332"/>
          </a:xfrm>
          <a:prstGeom prst="rect">
            <a:avLst/>
          </a:prstGeom>
          <a:noFill/>
          <a:ln>
            <a:solidFill>
              <a:schemeClr val="bg1">
                <a:lumMod val="85000"/>
              </a:schemeClr>
            </a:solidFill>
          </a:ln>
        </p:spPr>
        <p:txBody>
          <a:bodyPr wrap="square">
            <a:spAutoFit/>
          </a:bodyPr>
          <a:lstStyle/>
          <a:p>
            <a:r>
              <a:rPr lang="en-US" b="1" dirty="0">
                <a:solidFill>
                  <a:srgbClr val="546271"/>
                </a:solidFill>
              </a:rPr>
              <a:t>Quarterly</a:t>
            </a:r>
            <a:endParaRPr lang="en-IN" dirty="0">
              <a:solidFill>
                <a:srgbClr val="546271"/>
              </a:solidFill>
            </a:endParaRPr>
          </a:p>
        </p:txBody>
      </p:sp>
      <p:grpSp>
        <p:nvGrpSpPr>
          <p:cNvPr id="48" name="Group 47">
            <a:extLst>
              <a:ext uri="{FF2B5EF4-FFF2-40B4-BE49-F238E27FC236}">
                <a16:creationId xmlns:a16="http://schemas.microsoft.com/office/drawing/2014/main" id="{655ED6AB-E7B5-5AC8-5173-F5236864D326}"/>
              </a:ext>
            </a:extLst>
          </p:cNvPr>
          <p:cNvGrpSpPr/>
          <p:nvPr/>
        </p:nvGrpSpPr>
        <p:grpSpPr>
          <a:xfrm>
            <a:off x="6343971" y="1756670"/>
            <a:ext cx="5574154" cy="4391940"/>
            <a:chOff x="9400865" y="1950238"/>
            <a:chExt cx="1349084" cy="1178774"/>
          </a:xfrm>
        </p:grpSpPr>
        <p:sp>
          <p:nvSpPr>
            <p:cNvPr id="44" name="Freeform: Shape 43">
              <a:extLst>
                <a:ext uri="{FF2B5EF4-FFF2-40B4-BE49-F238E27FC236}">
                  <a16:creationId xmlns:a16="http://schemas.microsoft.com/office/drawing/2014/main" id="{E13D93D8-4273-BD4A-68F5-E077CDA46E25}"/>
                </a:ext>
              </a:extLst>
            </p:cNvPr>
            <p:cNvSpPr>
              <a:spLocks noChangeAspect="1"/>
            </p:cNvSpPr>
            <p:nvPr/>
          </p:nvSpPr>
          <p:spPr>
            <a:xfrm>
              <a:off x="9939949" y="1950238"/>
              <a:ext cx="810000" cy="864000"/>
            </a:xfrm>
            <a:custGeom>
              <a:avLst/>
              <a:gdLst>
                <a:gd name="csX0" fmla="*/ 202883 w 405764"/>
                <a:gd name="csY0" fmla="*/ 274320 h 404812"/>
                <a:gd name="csX1" fmla="*/ 131445 w 405764"/>
                <a:gd name="csY1" fmla="*/ 202883 h 404812"/>
                <a:gd name="csX2" fmla="*/ 202883 w 405764"/>
                <a:gd name="csY2" fmla="*/ 131445 h 404812"/>
                <a:gd name="csX3" fmla="*/ 274320 w 405764"/>
                <a:gd name="csY3" fmla="*/ 202883 h 404812"/>
                <a:gd name="csX4" fmla="*/ 202883 w 405764"/>
                <a:gd name="csY4" fmla="*/ 274320 h 404812"/>
                <a:gd name="csX5" fmla="*/ 363855 w 405764"/>
                <a:gd name="csY5" fmla="*/ 158115 h 404812"/>
                <a:gd name="csX6" fmla="*/ 348615 w 405764"/>
                <a:gd name="csY6" fmla="*/ 120968 h 404812"/>
                <a:gd name="csX7" fmla="*/ 363855 w 405764"/>
                <a:gd name="csY7" fmla="*/ 76200 h 404812"/>
                <a:gd name="csX8" fmla="*/ 329565 w 405764"/>
                <a:gd name="csY8" fmla="*/ 41910 h 404812"/>
                <a:gd name="csX9" fmla="*/ 284798 w 405764"/>
                <a:gd name="csY9" fmla="*/ 57150 h 404812"/>
                <a:gd name="csX10" fmla="*/ 247650 w 405764"/>
                <a:gd name="csY10" fmla="*/ 41910 h 404812"/>
                <a:gd name="csX11" fmla="*/ 226695 w 405764"/>
                <a:gd name="csY11" fmla="*/ 0 h 404812"/>
                <a:gd name="csX12" fmla="*/ 179070 w 405764"/>
                <a:gd name="csY12" fmla="*/ 0 h 404812"/>
                <a:gd name="csX13" fmla="*/ 158115 w 405764"/>
                <a:gd name="csY13" fmla="*/ 41910 h 404812"/>
                <a:gd name="csX14" fmla="*/ 120968 w 405764"/>
                <a:gd name="csY14" fmla="*/ 57150 h 404812"/>
                <a:gd name="csX15" fmla="*/ 76200 w 405764"/>
                <a:gd name="csY15" fmla="*/ 41910 h 404812"/>
                <a:gd name="csX16" fmla="*/ 41910 w 405764"/>
                <a:gd name="csY16" fmla="*/ 76200 h 404812"/>
                <a:gd name="csX17" fmla="*/ 57150 w 405764"/>
                <a:gd name="csY17" fmla="*/ 120968 h 404812"/>
                <a:gd name="csX18" fmla="*/ 41910 w 405764"/>
                <a:gd name="csY18" fmla="*/ 158115 h 404812"/>
                <a:gd name="csX19" fmla="*/ 0 w 405764"/>
                <a:gd name="csY19" fmla="*/ 179070 h 404812"/>
                <a:gd name="csX20" fmla="*/ 0 w 405764"/>
                <a:gd name="csY20" fmla="*/ 226695 h 404812"/>
                <a:gd name="csX21" fmla="*/ 41910 w 405764"/>
                <a:gd name="csY21" fmla="*/ 247650 h 404812"/>
                <a:gd name="csX22" fmla="*/ 57150 w 405764"/>
                <a:gd name="csY22" fmla="*/ 284798 h 404812"/>
                <a:gd name="csX23" fmla="*/ 41910 w 405764"/>
                <a:gd name="csY23" fmla="*/ 329565 h 404812"/>
                <a:gd name="csX24" fmla="*/ 75248 w 405764"/>
                <a:gd name="csY24" fmla="*/ 362903 h 404812"/>
                <a:gd name="csX25" fmla="*/ 120015 w 405764"/>
                <a:gd name="csY25" fmla="*/ 347663 h 404812"/>
                <a:gd name="csX26" fmla="*/ 157163 w 405764"/>
                <a:gd name="csY26" fmla="*/ 362903 h 404812"/>
                <a:gd name="csX27" fmla="*/ 178118 w 405764"/>
                <a:gd name="csY27" fmla="*/ 404813 h 404812"/>
                <a:gd name="csX28" fmla="*/ 225743 w 405764"/>
                <a:gd name="csY28" fmla="*/ 404813 h 404812"/>
                <a:gd name="csX29" fmla="*/ 246698 w 405764"/>
                <a:gd name="csY29" fmla="*/ 362903 h 404812"/>
                <a:gd name="csX30" fmla="*/ 283845 w 405764"/>
                <a:gd name="csY30" fmla="*/ 347663 h 404812"/>
                <a:gd name="csX31" fmla="*/ 328613 w 405764"/>
                <a:gd name="csY31" fmla="*/ 362903 h 404812"/>
                <a:gd name="csX32" fmla="*/ 362903 w 405764"/>
                <a:gd name="csY32" fmla="*/ 329565 h 404812"/>
                <a:gd name="csX33" fmla="*/ 347663 w 405764"/>
                <a:gd name="csY33" fmla="*/ 284798 h 404812"/>
                <a:gd name="csX34" fmla="*/ 363855 w 405764"/>
                <a:gd name="csY34" fmla="*/ 247650 h 404812"/>
                <a:gd name="csX35" fmla="*/ 405765 w 405764"/>
                <a:gd name="csY35" fmla="*/ 226695 h 404812"/>
                <a:gd name="csX36" fmla="*/ 405765 w 405764"/>
                <a:gd name="csY36" fmla="*/ 179070 h 404812"/>
                <a:gd name="csX37" fmla="*/ 363855 w 405764"/>
                <a:gd name="csY37" fmla="*/ 158115 h 4048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405764" h="404812">
                  <a:moveTo>
                    <a:pt x="202883" y="274320"/>
                  </a:moveTo>
                  <a:cubicBezTo>
                    <a:pt x="162877" y="274320"/>
                    <a:pt x="131445" y="241935"/>
                    <a:pt x="131445" y="202883"/>
                  </a:cubicBezTo>
                  <a:cubicBezTo>
                    <a:pt x="131445" y="163830"/>
                    <a:pt x="163830" y="131445"/>
                    <a:pt x="202883" y="131445"/>
                  </a:cubicBezTo>
                  <a:cubicBezTo>
                    <a:pt x="242888" y="131445"/>
                    <a:pt x="274320" y="163830"/>
                    <a:pt x="274320" y="202883"/>
                  </a:cubicBezTo>
                  <a:cubicBezTo>
                    <a:pt x="274320" y="241935"/>
                    <a:pt x="241935" y="274320"/>
                    <a:pt x="202883" y="274320"/>
                  </a:cubicBezTo>
                  <a:close/>
                  <a:moveTo>
                    <a:pt x="363855" y="158115"/>
                  </a:moveTo>
                  <a:cubicBezTo>
                    <a:pt x="360045" y="144780"/>
                    <a:pt x="355283" y="132398"/>
                    <a:pt x="348615" y="120968"/>
                  </a:cubicBezTo>
                  <a:lnTo>
                    <a:pt x="363855" y="76200"/>
                  </a:lnTo>
                  <a:lnTo>
                    <a:pt x="329565" y="41910"/>
                  </a:lnTo>
                  <a:lnTo>
                    <a:pt x="284798" y="57150"/>
                  </a:lnTo>
                  <a:cubicBezTo>
                    <a:pt x="273367" y="50483"/>
                    <a:pt x="260985" y="45720"/>
                    <a:pt x="247650" y="41910"/>
                  </a:cubicBezTo>
                  <a:lnTo>
                    <a:pt x="226695" y="0"/>
                  </a:lnTo>
                  <a:lnTo>
                    <a:pt x="179070" y="0"/>
                  </a:lnTo>
                  <a:lnTo>
                    <a:pt x="158115" y="41910"/>
                  </a:lnTo>
                  <a:cubicBezTo>
                    <a:pt x="144780" y="45720"/>
                    <a:pt x="132398" y="50483"/>
                    <a:pt x="120968" y="57150"/>
                  </a:cubicBezTo>
                  <a:lnTo>
                    <a:pt x="76200" y="41910"/>
                  </a:lnTo>
                  <a:lnTo>
                    <a:pt x="41910" y="76200"/>
                  </a:lnTo>
                  <a:lnTo>
                    <a:pt x="57150" y="120968"/>
                  </a:lnTo>
                  <a:cubicBezTo>
                    <a:pt x="50482" y="132398"/>
                    <a:pt x="45720" y="144780"/>
                    <a:pt x="41910" y="158115"/>
                  </a:cubicBezTo>
                  <a:lnTo>
                    <a:pt x="0" y="179070"/>
                  </a:lnTo>
                  <a:lnTo>
                    <a:pt x="0" y="226695"/>
                  </a:lnTo>
                  <a:lnTo>
                    <a:pt x="41910" y="247650"/>
                  </a:lnTo>
                  <a:cubicBezTo>
                    <a:pt x="45720" y="260985"/>
                    <a:pt x="50482" y="273368"/>
                    <a:pt x="57150" y="284798"/>
                  </a:cubicBezTo>
                  <a:lnTo>
                    <a:pt x="41910" y="329565"/>
                  </a:lnTo>
                  <a:lnTo>
                    <a:pt x="75248" y="362903"/>
                  </a:lnTo>
                  <a:lnTo>
                    <a:pt x="120015" y="347663"/>
                  </a:lnTo>
                  <a:cubicBezTo>
                    <a:pt x="131445" y="354330"/>
                    <a:pt x="143827" y="359093"/>
                    <a:pt x="157163" y="362903"/>
                  </a:cubicBezTo>
                  <a:lnTo>
                    <a:pt x="178118" y="404813"/>
                  </a:lnTo>
                  <a:lnTo>
                    <a:pt x="225743" y="404813"/>
                  </a:lnTo>
                  <a:lnTo>
                    <a:pt x="246698" y="362903"/>
                  </a:lnTo>
                  <a:cubicBezTo>
                    <a:pt x="260033" y="359093"/>
                    <a:pt x="272415" y="354330"/>
                    <a:pt x="283845" y="347663"/>
                  </a:cubicBezTo>
                  <a:lnTo>
                    <a:pt x="328613" y="362903"/>
                  </a:lnTo>
                  <a:lnTo>
                    <a:pt x="362903" y="329565"/>
                  </a:lnTo>
                  <a:lnTo>
                    <a:pt x="347663" y="284798"/>
                  </a:lnTo>
                  <a:cubicBezTo>
                    <a:pt x="354330" y="273368"/>
                    <a:pt x="360045" y="260033"/>
                    <a:pt x="363855" y="247650"/>
                  </a:cubicBezTo>
                  <a:lnTo>
                    <a:pt x="405765" y="226695"/>
                  </a:lnTo>
                  <a:lnTo>
                    <a:pt x="405765" y="179070"/>
                  </a:lnTo>
                  <a:lnTo>
                    <a:pt x="363855" y="158115"/>
                  </a:lnTo>
                  <a:close/>
                </a:path>
              </a:pathLst>
            </a:custGeom>
            <a:solidFill>
              <a:srgbClr val="4D92E2">
                <a:alpha val="15000"/>
              </a:srgbClr>
            </a:solidFill>
            <a:ln w="9525" cap="flat">
              <a:noFill/>
              <a:prstDash val="solid"/>
              <a:miter/>
            </a:ln>
          </p:spPr>
        </p:sp>
        <p:sp>
          <p:nvSpPr>
            <p:cNvPr id="45" name="Freeform: Shape 44">
              <a:extLst>
                <a:ext uri="{FF2B5EF4-FFF2-40B4-BE49-F238E27FC236}">
                  <a16:creationId xmlns:a16="http://schemas.microsoft.com/office/drawing/2014/main" id="{056812D6-985B-E5F8-EF45-B45C003057CB}"/>
                </a:ext>
              </a:extLst>
            </p:cNvPr>
            <p:cNvSpPr>
              <a:spLocks noChangeAspect="1"/>
            </p:cNvSpPr>
            <p:nvPr/>
          </p:nvSpPr>
          <p:spPr>
            <a:xfrm>
              <a:off x="9400865" y="2445012"/>
              <a:ext cx="684000" cy="684000"/>
            </a:xfrm>
            <a:custGeom>
              <a:avLst/>
              <a:gdLst>
                <a:gd name="csX0" fmla="*/ 202883 w 405765"/>
                <a:gd name="csY0" fmla="*/ 274320 h 404812"/>
                <a:gd name="csX1" fmla="*/ 131445 w 405765"/>
                <a:gd name="csY1" fmla="*/ 202882 h 404812"/>
                <a:gd name="csX2" fmla="*/ 202883 w 405765"/>
                <a:gd name="csY2" fmla="*/ 131445 h 404812"/>
                <a:gd name="csX3" fmla="*/ 274320 w 405765"/>
                <a:gd name="csY3" fmla="*/ 202882 h 404812"/>
                <a:gd name="csX4" fmla="*/ 202883 w 405765"/>
                <a:gd name="csY4" fmla="*/ 274320 h 404812"/>
                <a:gd name="csX5" fmla="*/ 202883 w 405765"/>
                <a:gd name="csY5" fmla="*/ 274320 h 404812"/>
                <a:gd name="csX6" fmla="*/ 348615 w 405765"/>
                <a:gd name="csY6" fmla="*/ 120967 h 404812"/>
                <a:gd name="csX7" fmla="*/ 363855 w 405765"/>
                <a:gd name="csY7" fmla="*/ 76200 h 404812"/>
                <a:gd name="csX8" fmla="*/ 329565 w 405765"/>
                <a:gd name="csY8" fmla="*/ 41910 h 404812"/>
                <a:gd name="csX9" fmla="*/ 284798 w 405765"/>
                <a:gd name="csY9" fmla="*/ 57150 h 404812"/>
                <a:gd name="csX10" fmla="*/ 247650 w 405765"/>
                <a:gd name="csY10" fmla="*/ 41910 h 404812"/>
                <a:gd name="csX11" fmla="*/ 226695 w 405765"/>
                <a:gd name="csY11" fmla="*/ 0 h 404812"/>
                <a:gd name="csX12" fmla="*/ 179070 w 405765"/>
                <a:gd name="csY12" fmla="*/ 0 h 404812"/>
                <a:gd name="csX13" fmla="*/ 158115 w 405765"/>
                <a:gd name="csY13" fmla="*/ 41910 h 404812"/>
                <a:gd name="csX14" fmla="*/ 120968 w 405765"/>
                <a:gd name="csY14" fmla="*/ 57150 h 404812"/>
                <a:gd name="csX15" fmla="*/ 76200 w 405765"/>
                <a:gd name="csY15" fmla="*/ 41910 h 404812"/>
                <a:gd name="csX16" fmla="*/ 42863 w 405765"/>
                <a:gd name="csY16" fmla="*/ 75247 h 404812"/>
                <a:gd name="csX17" fmla="*/ 57150 w 405765"/>
                <a:gd name="csY17" fmla="*/ 120015 h 404812"/>
                <a:gd name="csX18" fmla="*/ 41910 w 405765"/>
                <a:gd name="csY18" fmla="*/ 157163 h 404812"/>
                <a:gd name="csX19" fmla="*/ 0 w 405765"/>
                <a:gd name="csY19" fmla="*/ 178117 h 404812"/>
                <a:gd name="csX20" fmla="*/ 0 w 405765"/>
                <a:gd name="csY20" fmla="*/ 225742 h 404812"/>
                <a:gd name="csX21" fmla="*/ 41910 w 405765"/>
                <a:gd name="csY21" fmla="*/ 246698 h 404812"/>
                <a:gd name="csX22" fmla="*/ 57150 w 405765"/>
                <a:gd name="csY22" fmla="*/ 283845 h 404812"/>
                <a:gd name="csX23" fmla="*/ 42863 w 405765"/>
                <a:gd name="csY23" fmla="*/ 328613 h 404812"/>
                <a:gd name="csX24" fmla="*/ 76200 w 405765"/>
                <a:gd name="csY24" fmla="*/ 361950 h 404812"/>
                <a:gd name="csX25" fmla="*/ 120968 w 405765"/>
                <a:gd name="csY25" fmla="*/ 347663 h 404812"/>
                <a:gd name="csX26" fmla="*/ 158115 w 405765"/>
                <a:gd name="csY26" fmla="*/ 362903 h 404812"/>
                <a:gd name="csX27" fmla="*/ 179070 w 405765"/>
                <a:gd name="csY27" fmla="*/ 404813 h 404812"/>
                <a:gd name="csX28" fmla="*/ 226695 w 405765"/>
                <a:gd name="csY28" fmla="*/ 404813 h 404812"/>
                <a:gd name="csX29" fmla="*/ 247650 w 405765"/>
                <a:gd name="csY29" fmla="*/ 362903 h 404812"/>
                <a:gd name="csX30" fmla="*/ 284798 w 405765"/>
                <a:gd name="csY30" fmla="*/ 347663 h 404812"/>
                <a:gd name="csX31" fmla="*/ 329565 w 405765"/>
                <a:gd name="csY31" fmla="*/ 362903 h 404812"/>
                <a:gd name="csX32" fmla="*/ 362903 w 405765"/>
                <a:gd name="csY32" fmla="*/ 328613 h 404812"/>
                <a:gd name="csX33" fmla="*/ 348615 w 405765"/>
                <a:gd name="csY33" fmla="*/ 284798 h 404812"/>
                <a:gd name="csX34" fmla="*/ 363855 w 405765"/>
                <a:gd name="csY34" fmla="*/ 247650 h 404812"/>
                <a:gd name="csX35" fmla="*/ 405765 w 405765"/>
                <a:gd name="csY35" fmla="*/ 226695 h 404812"/>
                <a:gd name="csX36" fmla="*/ 405765 w 405765"/>
                <a:gd name="csY36" fmla="*/ 179070 h 404812"/>
                <a:gd name="csX37" fmla="*/ 363855 w 405765"/>
                <a:gd name="csY37" fmla="*/ 158115 h 404812"/>
                <a:gd name="csX38" fmla="*/ 348615 w 405765"/>
                <a:gd name="csY38" fmla="*/ 120967 h 4048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405765" h="404812">
                  <a:moveTo>
                    <a:pt x="202883" y="274320"/>
                  </a:moveTo>
                  <a:cubicBezTo>
                    <a:pt x="162878" y="274320"/>
                    <a:pt x="131445" y="241935"/>
                    <a:pt x="131445" y="202882"/>
                  </a:cubicBezTo>
                  <a:cubicBezTo>
                    <a:pt x="131445" y="162877"/>
                    <a:pt x="163830" y="131445"/>
                    <a:pt x="202883" y="131445"/>
                  </a:cubicBezTo>
                  <a:cubicBezTo>
                    <a:pt x="242888" y="131445"/>
                    <a:pt x="274320" y="163830"/>
                    <a:pt x="274320" y="202882"/>
                  </a:cubicBezTo>
                  <a:cubicBezTo>
                    <a:pt x="274320" y="241935"/>
                    <a:pt x="242888" y="274320"/>
                    <a:pt x="202883" y="274320"/>
                  </a:cubicBezTo>
                  <a:lnTo>
                    <a:pt x="202883" y="274320"/>
                  </a:lnTo>
                  <a:close/>
                  <a:moveTo>
                    <a:pt x="348615" y="120967"/>
                  </a:moveTo>
                  <a:lnTo>
                    <a:pt x="363855" y="76200"/>
                  </a:lnTo>
                  <a:lnTo>
                    <a:pt x="329565" y="41910"/>
                  </a:lnTo>
                  <a:lnTo>
                    <a:pt x="284798" y="57150"/>
                  </a:lnTo>
                  <a:cubicBezTo>
                    <a:pt x="273368" y="50482"/>
                    <a:pt x="260033" y="45720"/>
                    <a:pt x="247650" y="41910"/>
                  </a:cubicBezTo>
                  <a:lnTo>
                    <a:pt x="226695" y="0"/>
                  </a:lnTo>
                  <a:lnTo>
                    <a:pt x="179070" y="0"/>
                  </a:lnTo>
                  <a:lnTo>
                    <a:pt x="158115" y="41910"/>
                  </a:lnTo>
                  <a:cubicBezTo>
                    <a:pt x="144780" y="45720"/>
                    <a:pt x="132398" y="50482"/>
                    <a:pt x="120968" y="57150"/>
                  </a:cubicBezTo>
                  <a:lnTo>
                    <a:pt x="76200" y="41910"/>
                  </a:lnTo>
                  <a:lnTo>
                    <a:pt x="42863" y="75247"/>
                  </a:lnTo>
                  <a:lnTo>
                    <a:pt x="57150" y="120015"/>
                  </a:lnTo>
                  <a:cubicBezTo>
                    <a:pt x="50483" y="131445"/>
                    <a:pt x="45720" y="144780"/>
                    <a:pt x="41910" y="157163"/>
                  </a:cubicBezTo>
                  <a:lnTo>
                    <a:pt x="0" y="178117"/>
                  </a:lnTo>
                  <a:lnTo>
                    <a:pt x="0" y="225742"/>
                  </a:lnTo>
                  <a:lnTo>
                    <a:pt x="41910" y="246698"/>
                  </a:lnTo>
                  <a:cubicBezTo>
                    <a:pt x="45720" y="260032"/>
                    <a:pt x="50483" y="272415"/>
                    <a:pt x="57150" y="283845"/>
                  </a:cubicBezTo>
                  <a:lnTo>
                    <a:pt x="42863" y="328613"/>
                  </a:lnTo>
                  <a:lnTo>
                    <a:pt x="76200" y="361950"/>
                  </a:lnTo>
                  <a:lnTo>
                    <a:pt x="120968" y="347663"/>
                  </a:lnTo>
                  <a:cubicBezTo>
                    <a:pt x="132398" y="354330"/>
                    <a:pt x="144780" y="359092"/>
                    <a:pt x="158115" y="362903"/>
                  </a:cubicBezTo>
                  <a:lnTo>
                    <a:pt x="179070" y="404813"/>
                  </a:lnTo>
                  <a:lnTo>
                    <a:pt x="226695" y="404813"/>
                  </a:lnTo>
                  <a:lnTo>
                    <a:pt x="247650" y="362903"/>
                  </a:lnTo>
                  <a:cubicBezTo>
                    <a:pt x="260985" y="359092"/>
                    <a:pt x="273368" y="354330"/>
                    <a:pt x="284798" y="347663"/>
                  </a:cubicBezTo>
                  <a:lnTo>
                    <a:pt x="329565" y="362903"/>
                  </a:lnTo>
                  <a:lnTo>
                    <a:pt x="362903" y="328613"/>
                  </a:lnTo>
                  <a:lnTo>
                    <a:pt x="348615" y="284798"/>
                  </a:lnTo>
                  <a:cubicBezTo>
                    <a:pt x="355283" y="273367"/>
                    <a:pt x="360045" y="260985"/>
                    <a:pt x="363855" y="247650"/>
                  </a:cubicBezTo>
                  <a:lnTo>
                    <a:pt x="405765" y="226695"/>
                  </a:lnTo>
                  <a:lnTo>
                    <a:pt x="405765" y="179070"/>
                  </a:lnTo>
                  <a:lnTo>
                    <a:pt x="363855" y="158115"/>
                  </a:lnTo>
                  <a:cubicBezTo>
                    <a:pt x="360045" y="144780"/>
                    <a:pt x="355283" y="132397"/>
                    <a:pt x="348615" y="120967"/>
                  </a:cubicBezTo>
                  <a:close/>
                </a:path>
              </a:pathLst>
            </a:custGeom>
            <a:solidFill>
              <a:srgbClr val="546271">
                <a:alpha val="15000"/>
              </a:srgbClr>
            </a:solidFill>
            <a:ln w="9525" cap="flat">
              <a:noFill/>
              <a:prstDash val="solid"/>
              <a:miter/>
            </a:ln>
          </p:spPr>
        </p:sp>
      </p:grpSp>
      <p:sp>
        <p:nvSpPr>
          <p:cNvPr id="49" name="TextBox 48">
            <a:extLst>
              <a:ext uri="{FF2B5EF4-FFF2-40B4-BE49-F238E27FC236}">
                <a16:creationId xmlns:a16="http://schemas.microsoft.com/office/drawing/2014/main" id="{941DFA60-1546-CAC8-A71A-DE098BCAB428}"/>
              </a:ext>
            </a:extLst>
          </p:cNvPr>
          <p:cNvSpPr txBox="1"/>
          <p:nvPr/>
        </p:nvSpPr>
        <p:spPr>
          <a:xfrm>
            <a:off x="2380350" y="4692866"/>
            <a:ext cx="1800000" cy="369332"/>
          </a:xfrm>
          <a:prstGeom prst="rect">
            <a:avLst/>
          </a:prstGeom>
          <a:solidFill>
            <a:srgbClr val="104C75">
              <a:alpha val="80000"/>
            </a:srgbClr>
          </a:solidFill>
        </p:spPr>
        <p:txBody>
          <a:bodyPr wrap="square">
            <a:spAutoFit/>
          </a:bodyPr>
          <a:lstStyle/>
          <a:p>
            <a:r>
              <a:rPr lang="en-US" b="1" dirty="0">
                <a:solidFill>
                  <a:schemeClr val="bg1"/>
                </a:solidFill>
              </a:rPr>
              <a:t>Confidentiality: </a:t>
            </a:r>
            <a:endParaRPr lang="en-IN" dirty="0">
              <a:solidFill>
                <a:schemeClr val="bg1"/>
              </a:solidFill>
            </a:endParaRPr>
          </a:p>
        </p:txBody>
      </p:sp>
      <p:sp>
        <p:nvSpPr>
          <p:cNvPr id="50" name="TextBox 49">
            <a:extLst>
              <a:ext uri="{FF2B5EF4-FFF2-40B4-BE49-F238E27FC236}">
                <a16:creationId xmlns:a16="http://schemas.microsoft.com/office/drawing/2014/main" id="{F81240A4-8769-0AD4-A99F-3E0F3D558584}"/>
              </a:ext>
            </a:extLst>
          </p:cNvPr>
          <p:cNvSpPr txBox="1"/>
          <p:nvPr/>
        </p:nvSpPr>
        <p:spPr>
          <a:xfrm>
            <a:off x="4331071" y="4692866"/>
            <a:ext cx="2484000" cy="369332"/>
          </a:xfrm>
          <a:prstGeom prst="rect">
            <a:avLst/>
          </a:prstGeom>
          <a:noFill/>
          <a:ln>
            <a:solidFill>
              <a:schemeClr val="bg1">
                <a:lumMod val="85000"/>
              </a:schemeClr>
            </a:solidFill>
          </a:ln>
        </p:spPr>
        <p:txBody>
          <a:bodyPr wrap="square">
            <a:spAutoFit/>
          </a:bodyPr>
          <a:lstStyle/>
          <a:p>
            <a:r>
              <a:rPr lang="en-US" b="1" dirty="0">
                <a:solidFill>
                  <a:srgbClr val="546271"/>
                </a:solidFill>
              </a:rPr>
              <a:t>Internal use only</a:t>
            </a:r>
            <a:endParaRPr lang="en-IN" dirty="0">
              <a:solidFill>
                <a:srgbClr val="546271"/>
              </a:solidFill>
            </a:endParaRPr>
          </a:p>
        </p:txBody>
      </p:sp>
      <p:grpSp>
        <p:nvGrpSpPr>
          <p:cNvPr id="11" name="Group 10">
            <a:extLst>
              <a:ext uri="{FF2B5EF4-FFF2-40B4-BE49-F238E27FC236}">
                <a16:creationId xmlns:a16="http://schemas.microsoft.com/office/drawing/2014/main" id="{C7EE4E62-67CD-0EF6-C4B7-77305D046F59}"/>
              </a:ext>
            </a:extLst>
          </p:cNvPr>
          <p:cNvGrpSpPr/>
          <p:nvPr/>
        </p:nvGrpSpPr>
        <p:grpSpPr>
          <a:xfrm>
            <a:off x="9305107" y="188652"/>
            <a:ext cx="2886893" cy="790432"/>
            <a:chOff x="8778238" y="236440"/>
            <a:chExt cx="3413759" cy="1031333"/>
          </a:xfrm>
          <a:solidFill>
            <a:srgbClr val="104C75"/>
          </a:solidFill>
        </p:grpSpPr>
        <p:sp>
          <p:nvSpPr>
            <p:cNvPr id="4" name="Rectangle: Rounded Corners 3">
              <a:extLst>
                <a:ext uri="{FF2B5EF4-FFF2-40B4-BE49-F238E27FC236}">
                  <a16:creationId xmlns:a16="http://schemas.microsoft.com/office/drawing/2014/main" id="{FD512B53-58EC-51C4-1D6A-4E116BC70281}"/>
                </a:ext>
              </a:extLst>
            </p:cNvPr>
            <p:cNvSpPr/>
            <p:nvPr userDrawn="1"/>
          </p:nvSpPr>
          <p:spPr>
            <a:xfrm rot="10800000">
              <a:off x="8778238" y="236440"/>
              <a:ext cx="3413759" cy="1031333"/>
            </a:xfrm>
            <a:prstGeom prst="roundRect">
              <a:avLst>
                <a:gd name="adj" fmla="val 0"/>
              </a:avLst>
            </a:prstGeom>
            <a:grp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dirty="0"/>
            </a:p>
          </p:txBody>
        </p:sp>
        <p:pic>
          <p:nvPicPr>
            <p:cNvPr id="2" name="Graphic 1">
              <a:extLst>
                <a:ext uri="{FF2B5EF4-FFF2-40B4-BE49-F238E27FC236}">
                  <a16:creationId xmlns:a16="http://schemas.microsoft.com/office/drawing/2014/main" id="{28396FBF-FD2B-27F0-33E1-C6A2EBB30E3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974852" y="335042"/>
              <a:ext cx="3017520" cy="756114"/>
            </a:xfrm>
            <a:prstGeom prst="rect">
              <a:avLst/>
            </a:prstGeom>
            <a:grpFill/>
          </p:spPr>
        </p:pic>
      </p:grpSp>
    </p:spTree>
    <p:extLst>
      <p:ext uri="{BB962C8B-B14F-4D97-AF65-F5344CB8AC3E}">
        <p14:creationId xmlns:p14="http://schemas.microsoft.com/office/powerpoint/2010/main" val="4013317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BF273-3AB4-EF64-DD29-C2CDB48F92FD}"/>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949AE820-0531-A108-AFA7-4CADE965AA6C}"/>
              </a:ext>
            </a:extLst>
          </p:cNvPr>
          <p:cNvGrpSpPr/>
          <p:nvPr/>
        </p:nvGrpSpPr>
        <p:grpSpPr>
          <a:xfrm>
            <a:off x="1607151" y="1027700"/>
            <a:ext cx="5122608" cy="338554"/>
            <a:chOff x="973392" y="1543470"/>
            <a:chExt cx="5122608" cy="338554"/>
          </a:xfrm>
        </p:grpSpPr>
        <p:sp>
          <p:nvSpPr>
            <p:cNvPr id="7" name="Rectangle: Rounded Corners 6">
              <a:extLst>
                <a:ext uri="{FF2B5EF4-FFF2-40B4-BE49-F238E27FC236}">
                  <a16:creationId xmlns:a16="http://schemas.microsoft.com/office/drawing/2014/main" id="{A39C9B5A-4769-712E-F18C-F8DA138CDD66}"/>
                </a:ext>
              </a:extLst>
            </p:cNvPr>
            <p:cNvSpPr/>
            <p:nvPr/>
          </p:nvSpPr>
          <p:spPr>
            <a:xfrm>
              <a:off x="1017636" y="1573606"/>
              <a:ext cx="252000" cy="252000"/>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3" name="TextBox 2">
              <a:extLst>
                <a:ext uri="{FF2B5EF4-FFF2-40B4-BE49-F238E27FC236}">
                  <a16:creationId xmlns:a16="http://schemas.microsoft.com/office/drawing/2014/main" id="{BD99A766-2DB7-20D2-1A9F-175B85EA736F}"/>
                </a:ext>
              </a:extLst>
            </p:cNvPr>
            <p:cNvSpPr txBox="1"/>
            <p:nvPr/>
          </p:nvSpPr>
          <p:spPr>
            <a:xfrm>
              <a:off x="973392" y="1543470"/>
              <a:ext cx="5122608" cy="338554"/>
            </a:xfrm>
            <a:prstGeom prst="rect">
              <a:avLst/>
            </a:prstGeom>
            <a:noFill/>
          </p:spPr>
          <p:txBody>
            <a:bodyPr wrap="square" anchor="ctr">
              <a:spAutoFit/>
            </a:bodyPr>
            <a:lstStyle/>
            <a:p>
              <a:pPr>
                <a:buNone/>
              </a:pPr>
              <a:r>
                <a:rPr lang="en-US" sz="1600" b="1" dirty="0">
                  <a:solidFill>
                    <a:srgbClr val="4A90E2"/>
                  </a:solidFill>
                  <a:effectLst/>
                </a:rPr>
                <a:t>01</a:t>
              </a:r>
              <a:r>
                <a:rPr lang="en-US" sz="1600" dirty="0"/>
                <a:t>  </a:t>
              </a:r>
              <a:r>
                <a:rPr lang="en-US" sz="1600" b="1" dirty="0">
                  <a:solidFill>
                    <a:srgbClr val="1F2937"/>
                  </a:solidFill>
                  <a:effectLst/>
                </a:rPr>
                <a:t>Purpose and Description</a:t>
              </a:r>
              <a:endParaRPr lang="en-US" sz="1600" dirty="0">
                <a:solidFill>
                  <a:srgbClr val="6B7280"/>
                </a:solidFill>
                <a:effectLst/>
              </a:endParaRPr>
            </a:p>
          </p:txBody>
        </p:sp>
      </p:grpSp>
      <p:sp>
        <p:nvSpPr>
          <p:cNvPr id="17" name="TextBox 16">
            <a:extLst>
              <a:ext uri="{FF2B5EF4-FFF2-40B4-BE49-F238E27FC236}">
                <a16:creationId xmlns:a16="http://schemas.microsoft.com/office/drawing/2014/main" id="{726C5ABF-FBCC-319A-B017-005B8819413D}"/>
              </a:ext>
            </a:extLst>
          </p:cNvPr>
          <p:cNvSpPr txBox="1"/>
          <p:nvPr/>
        </p:nvSpPr>
        <p:spPr>
          <a:xfrm>
            <a:off x="1852723" y="407861"/>
            <a:ext cx="3960255" cy="523220"/>
          </a:xfrm>
          <a:prstGeom prst="rect">
            <a:avLst/>
          </a:prstGeom>
          <a:noFill/>
        </p:spPr>
        <p:txBody>
          <a:bodyPr wrap="square">
            <a:spAutoFit/>
          </a:bodyPr>
          <a:lstStyle/>
          <a:p>
            <a:pPr>
              <a:buNone/>
            </a:pPr>
            <a:r>
              <a:rPr lang="en-US" sz="2800" b="1" dirty="0">
                <a:solidFill>
                  <a:srgbClr val="1F2937"/>
                </a:solidFill>
                <a:effectLst/>
              </a:rPr>
              <a:t>TABLE OF CONTENT</a:t>
            </a:r>
          </a:p>
        </p:txBody>
      </p:sp>
      <p:grpSp>
        <p:nvGrpSpPr>
          <p:cNvPr id="23" name="Group 22">
            <a:extLst>
              <a:ext uri="{FF2B5EF4-FFF2-40B4-BE49-F238E27FC236}">
                <a16:creationId xmlns:a16="http://schemas.microsoft.com/office/drawing/2014/main" id="{7FB22E40-4701-7B30-8ECC-6938044D29DC}"/>
              </a:ext>
            </a:extLst>
          </p:cNvPr>
          <p:cNvGrpSpPr/>
          <p:nvPr/>
        </p:nvGrpSpPr>
        <p:grpSpPr>
          <a:xfrm>
            <a:off x="1607151" y="2523012"/>
            <a:ext cx="5122608" cy="338554"/>
            <a:chOff x="963563" y="4957282"/>
            <a:chExt cx="5122608" cy="338554"/>
          </a:xfrm>
        </p:grpSpPr>
        <p:sp>
          <p:nvSpPr>
            <p:cNvPr id="11" name="Rectangle: Rounded Corners 10">
              <a:extLst>
                <a:ext uri="{FF2B5EF4-FFF2-40B4-BE49-F238E27FC236}">
                  <a16:creationId xmlns:a16="http://schemas.microsoft.com/office/drawing/2014/main" id="{DDD6AE2E-06B1-190A-A941-7546F702F4EF}"/>
                </a:ext>
              </a:extLst>
            </p:cNvPr>
            <p:cNvSpPr/>
            <p:nvPr/>
          </p:nvSpPr>
          <p:spPr>
            <a:xfrm>
              <a:off x="1012167" y="5000150"/>
              <a:ext cx="252000" cy="252000"/>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2" name="TextBox 1">
              <a:extLst>
                <a:ext uri="{FF2B5EF4-FFF2-40B4-BE49-F238E27FC236}">
                  <a16:creationId xmlns:a16="http://schemas.microsoft.com/office/drawing/2014/main" id="{4CA1322F-5BEF-75EA-C30A-9FD8CF5EE506}"/>
                </a:ext>
              </a:extLst>
            </p:cNvPr>
            <p:cNvSpPr txBox="1"/>
            <p:nvPr/>
          </p:nvSpPr>
          <p:spPr>
            <a:xfrm>
              <a:off x="963563" y="4957282"/>
              <a:ext cx="5122608" cy="338554"/>
            </a:xfrm>
            <a:prstGeom prst="rect">
              <a:avLst/>
            </a:prstGeom>
            <a:noFill/>
          </p:spPr>
          <p:txBody>
            <a:bodyPr wrap="square" anchor="ctr">
              <a:spAutoFit/>
            </a:bodyPr>
            <a:lstStyle/>
            <a:p>
              <a:pPr>
                <a:buNone/>
              </a:pPr>
              <a:r>
                <a:rPr lang="en-US" sz="1600" b="1" dirty="0">
                  <a:solidFill>
                    <a:srgbClr val="4A90E2"/>
                  </a:solidFill>
                  <a:effectLst/>
                </a:rPr>
                <a:t>05  </a:t>
              </a:r>
              <a:r>
                <a:rPr lang="en-US" sz="1600" b="1" dirty="0">
                  <a:solidFill>
                    <a:srgbClr val="1F2937"/>
                  </a:solidFill>
                  <a:effectLst/>
                </a:rPr>
                <a:t>Data Collection Procedures_2</a:t>
              </a:r>
              <a:endParaRPr lang="en-US" sz="1600" dirty="0">
                <a:solidFill>
                  <a:srgbClr val="6B7280"/>
                </a:solidFill>
                <a:effectLst/>
              </a:endParaRPr>
            </a:p>
          </p:txBody>
        </p:sp>
      </p:grpSp>
      <p:grpSp>
        <p:nvGrpSpPr>
          <p:cNvPr id="19" name="Group 18">
            <a:extLst>
              <a:ext uri="{FF2B5EF4-FFF2-40B4-BE49-F238E27FC236}">
                <a16:creationId xmlns:a16="http://schemas.microsoft.com/office/drawing/2014/main" id="{A865351C-BF36-AA64-A506-1603133EB306}"/>
              </a:ext>
            </a:extLst>
          </p:cNvPr>
          <p:cNvGrpSpPr/>
          <p:nvPr/>
        </p:nvGrpSpPr>
        <p:grpSpPr>
          <a:xfrm>
            <a:off x="1607151" y="1401528"/>
            <a:ext cx="5122608" cy="338554"/>
            <a:chOff x="958644" y="2408922"/>
            <a:chExt cx="5122608" cy="338554"/>
          </a:xfrm>
        </p:grpSpPr>
        <p:sp>
          <p:nvSpPr>
            <p:cNvPr id="8" name="Rectangle: Rounded Corners 7">
              <a:extLst>
                <a:ext uri="{FF2B5EF4-FFF2-40B4-BE49-F238E27FC236}">
                  <a16:creationId xmlns:a16="http://schemas.microsoft.com/office/drawing/2014/main" id="{F7C56B19-3918-AE31-A10A-E097F0639E57}"/>
                </a:ext>
              </a:extLst>
            </p:cNvPr>
            <p:cNvSpPr/>
            <p:nvPr/>
          </p:nvSpPr>
          <p:spPr>
            <a:xfrm>
              <a:off x="1017636" y="2448677"/>
              <a:ext cx="252000" cy="252000"/>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4" name="TextBox 3">
              <a:extLst>
                <a:ext uri="{FF2B5EF4-FFF2-40B4-BE49-F238E27FC236}">
                  <a16:creationId xmlns:a16="http://schemas.microsoft.com/office/drawing/2014/main" id="{AF3F6BB6-A41C-44B7-ADEF-D99CA7E0A924}"/>
                </a:ext>
              </a:extLst>
            </p:cNvPr>
            <p:cNvSpPr txBox="1"/>
            <p:nvPr/>
          </p:nvSpPr>
          <p:spPr>
            <a:xfrm>
              <a:off x="958644" y="2408922"/>
              <a:ext cx="5122608" cy="338554"/>
            </a:xfrm>
            <a:prstGeom prst="rect">
              <a:avLst/>
            </a:prstGeom>
            <a:noFill/>
          </p:spPr>
          <p:txBody>
            <a:bodyPr wrap="square" anchor="ctr">
              <a:spAutoFit/>
            </a:bodyPr>
            <a:lstStyle/>
            <a:p>
              <a:pPr>
                <a:buNone/>
              </a:pPr>
              <a:r>
                <a:rPr lang="en-US" sz="1600" b="1" dirty="0">
                  <a:solidFill>
                    <a:srgbClr val="4A90E2"/>
                  </a:solidFill>
                  <a:effectLst/>
                </a:rPr>
                <a:t>02  </a:t>
              </a:r>
              <a:r>
                <a:rPr lang="en-US" sz="1600" b="1" dirty="0">
                  <a:solidFill>
                    <a:srgbClr val="1F2937"/>
                  </a:solidFill>
                  <a:effectLst/>
                </a:rPr>
                <a:t>Objective and Scope</a:t>
              </a:r>
              <a:endParaRPr lang="en-US" sz="1600" dirty="0">
                <a:solidFill>
                  <a:srgbClr val="6B7280"/>
                </a:solidFill>
                <a:effectLst/>
              </a:endParaRPr>
            </a:p>
          </p:txBody>
        </p:sp>
      </p:grpSp>
      <p:grpSp>
        <p:nvGrpSpPr>
          <p:cNvPr id="21" name="Group 20">
            <a:extLst>
              <a:ext uri="{FF2B5EF4-FFF2-40B4-BE49-F238E27FC236}">
                <a16:creationId xmlns:a16="http://schemas.microsoft.com/office/drawing/2014/main" id="{509B2D0B-4D2B-BE97-B35A-B0FEC03AC586}"/>
              </a:ext>
            </a:extLst>
          </p:cNvPr>
          <p:cNvGrpSpPr/>
          <p:nvPr/>
        </p:nvGrpSpPr>
        <p:grpSpPr>
          <a:xfrm>
            <a:off x="1607151" y="1775356"/>
            <a:ext cx="5122608" cy="338554"/>
            <a:chOff x="964243" y="3237551"/>
            <a:chExt cx="5122608" cy="338554"/>
          </a:xfrm>
        </p:grpSpPr>
        <p:sp>
          <p:nvSpPr>
            <p:cNvPr id="9" name="Rectangle: Rounded Corners 8">
              <a:extLst>
                <a:ext uri="{FF2B5EF4-FFF2-40B4-BE49-F238E27FC236}">
                  <a16:creationId xmlns:a16="http://schemas.microsoft.com/office/drawing/2014/main" id="{98DDC878-D101-158A-91C9-40D6318E3F6D}"/>
                </a:ext>
              </a:extLst>
            </p:cNvPr>
            <p:cNvSpPr/>
            <p:nvPr/>
          </p:nvSpPr>
          <p:spPr>
            <a:xfrm>
              <a:off x="1010897" y="3294252"/>
              <a:ext cx="252000" cy="252000"/>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5" name="TextBox 4">
              <a:extLst>
                <a:ext uri="{FF2B5EF4-FFF2-40B4-BE49-F238E27FC236}">
                  <a16:creationId xmlns:a16="http://schemas.microsoft.com/office/drawing/2014/main" id="{A6B64FD6-E732-6EA3-7698-E76968D08E26}"/>
                </a:ext>
              </a:extLst>
            </p:cNvPr>
            <p:cNvSpPr txBox="1"/>
            <p:nvPr/>
          </p:nvSpPr>
          <p:spPr>
            <a:xfrm>
              <a:off x="964243" y="3237551"/>
              <a:ext cx="5122608" cy="338554"/>
            </a:xfrm>
            <a:prstGeom prst="rect">
              <a:avLst/>
            </a:prstGeom>
            <a:noFill/>
          </p:spPr>
          <p:txBody>
            <a:bodyPr wrap="square" anchor="ctr">
              <a:spAutoFit/>
            </a:bodyPr>
            <a:lstStyle/>
            <a:p>
              <a:pPr>
                <a:buNone/>
              </a:pPr>
              <a:r>
                <a:rPr lang="en-US" sz="1600" b="1" dirty="0">
                  <a:solidFill>
                    <a:srgbClr val="4A90E2"/>
                  </a:solidFill>
                  <a:effectLst/>
                </a:rPr>
                <a:t>03  </a:t>
              </a:r>
              <a:r>
                <a:rPr lang="en-US" sz="1600" b="1" dirty="0">
                  <a:solidFill>
                    <a:srgbClr val="1F2937"/>
                  </a:solidFill>
                </a:rPr>
                <a:t>Key Stakeholders</a:t>
              </a:r>
              <a:endParaRPr lang="en-US" sz="1600" b="1" dirty="0">
                <a:solidFill>
                  <a:srgbClr val="1F2937"/>
                </a:solidFill>
                <a:effectLst/>
              </a:endParaRPr>
            </a:p>
          </p:txBody>
        </p:sp>
      </p:grpSp>
      <p:grpSp>
        <p:nvGrpSpPr>
          <p:cNvPr id="22" name="Group 21">
            <a:extLst>
              <a:ext uri="{FF2B5EF4-FFF2-40B4-BE49-F238E27FC236}">
                <a16:creationId xmlns:a16="http://schemas.microsoft.com/office/drawing/2014/main" id="{6E6FDF47-4452-9EAB-1702-80AB796BB3E9}"/>
              </a:ext>
            </a:extLst>
          </p:cNvPr>
          <p:cNvGrpSpPr/>
          <p:nvPr/>
        </p:nvGrpSpPr>
        <p:grpSpPr>
          <a:xfrm>
            <a:off x="1607151" y="2149184"/>
            <a:ext cx="5122608" cy="338554"/>
            <a:chOff x="963630" y="4110136"/>
            <a:chExt cx="5122608" cy="338554"/>
          </a:xfrm>
        </p:grpSpPr>
        <p:sp>
          <p:nvSpPr>
            <p:cNvPr id="10" name="Rectangle: Rounded Corners 9">
              <a:extLst>
                <a:ext uri="{FF2B5EF4-FFF2-40B4-BE49-F238E27FC236}">
                  <a16:creationId xmlns:a16="http://schemas.microsoft.com/office/drawing/2014/main" id="{A5297C6D-90B1-26A8-0C4C-91AB6803F68D}"/>
                </a:ext>
              </a:extLst>
            </p:cNvPr>
            <p:cNvSpPr/>
            <p:nvPr/>
          </p:nvSpPr>
          <p:spPr>
            <a:xfrm>
              <a:off x="1018906" y="4139827"/>
              <a:ext cx="252000" cy="252000"/>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16" name="TextBox 15">
              <a:extLst>
                <a:ext uri="{FF2B5EF4-FFF2-40B4-BE49-F238E27FC236}">
                  <a16:creationId xmlns:a16="http://schemas.microsoft.com/office/drawing/2014/main" id="{A03F9548-80DE-58E9-ABB7-A325CBE60FCD}"/>
                </a:ext>
              </a:extLst>
            </p:cNvPr>
            <p:cNvSpPr txBox="1"/>
            <p:nvPr/>
          </p:nvSpPr>
          <p:spPr>
            <a:xfrm>
              <a:off x="963630" y="4110136"/>
              <a:ext cx="5122608" cy="338554"/>
            </a:xfrm>
            <a:prstGeom prst="rect">
              <a:avLst/>
            </a:prstGeom>
            <a:noFill/>
          </p:spPr>
          <p:txBody>
            <a:bodyPr wrap="square" anchor="ctr">
              <a:spAutoFit/>
            </a:bodyPr>
            <a:lstStyle/>
            <a:p>
              <a:pPr>
                <a:buNone/>
              </a:pPr>
              <a:r>
                <a:rPr lang="en-US" sz="1600" b="1" dirty="0">
                  <a:solidFill>
                    <a:srgbClr val="4A90E2"/>
                  </a:solidFill>
                  <a:effectLst/>
                </a:rPr>
                <a:t>04  </a:t>
              </a:r>
              <a:r>
                <a:rPr lang="en-US" sz="1600" b="1" dirty="0">
                  <a:solidFill>
                    <a:srgbClr val="1F2937"/>
                  </a:solidFill>
                </a:rPr>
                <a:t>Data Collection Procedures_1</a:t>
              </a:r>
              <a:endParaRPr lang="en-US" sz="1600" dirty="0">
                <a:solidFill>
                  <a:srgbClr val="6B7280"/>
                </a:solidFill>
                <a:effectLst/>
              </a:endParaRPr>
            </a:p>
          </p:txBody>
        </p:sp>
      </p:grpSp>
      <p:grpSp>
        <p:nvGrpSpPr>
          <p:cNvPr id="24" name="Group 23">
            <a:extLst>
              <a:ext uri="{FF2B5EF4-FFF2-40B4-BE49-F238E27FC236}">
                <a16:creationId xmlns:a16="http://schemas.microsoft.com/office/drawing/2014/main" id="{5707CB8F-C92F-B739-8802-99B5EE7ED17F}"/>
              </a:ext>
            </a:extLst>
          </p:cNvPr>
          <p:cNvGrpSpPr/>
          <p:nvPr/>
        </p:nvGrpSpPr>
        <p:grpSpPr>
          <a:xfrm>
            <a:off x="1607151" y="2896840"/>
            <a:ext cx="5122608" cy="338554"/>
            <a:chOff x="963563" y="4957282"/>
            <a:chExt cx="5122608" cy="338554"/>
          </a:xfrm>
        </p:grpSpPr>
        <p:sp>
          <p:nvSpPr>
            <p:cNvPr id="25" name="Rectangle: Rounded Corners 24">
              <a:extLst>
                <a:ext uri="{FF2B5EF4-FFF2-40B4-BE49-F238E27FC236}">
                  <a16:creationId xmlns:a16="http://schemas.microsoft.com/office/drawing/2014/main" id="{680AA747-9EB9-8A54-BD8A-CF1545D19002}"/>
                </a:ext>
              </a:extLst>
            </p:cNvPr>
            <p:cNvSpPr/>
            <p:nvPr/>
          </p:nvSpPr>
          <p:spPr>
            <a:xfrm>
              <a:off x="1012167" y="5000150"/>
              <a:ext cx="252000" cy="252000"/>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26" name="TextBox 25">
              <a:extLst>
                <a:ext uri="{FF2B5EF4-FFF2-40B4-BE49-F238E27FC236}">
                  <a16:creationId xmlns:a16="http://schemas.microsoft.com/office/drawing/2014/main" id="{63B46844-34EA-662C-CE8B-F2D6C0EF01C5}"/>
                </a:ext>
              </a:extLst>
            </p:cNvPr>
            <p:cNvSpPr txBox="1"/>
            <p:nvPr/>
          </p:nvSpPr>
          <p:spPr>
            <a:xfrm>
              <a:off x="963563" y="4957282"/>
              <a:ext cx="5122608" cy="338554"/>
            </a:xfrm>
            <a:prstGeom prst="rect">
              <a:avLst/>
            </a:prstGeom>
            <a:noFill/>
          </p:spPr>
          <p:txBody>
            <a:bodyPr wrap="square" anchor="ctr">
              <a:spAutoFit/>
            </a:bodyPr>
            <a:lstStyle/>
            <a:p>
              <a:pPr>
                <a:buNone/>
              </a:pPr>
              <a:r>
                <a:rPr lang="en-US" sz="1600" b="1" dirty="0">
                  <a:solidFill>
                    <a:srgbClr val="4A90E2"/>
                  </a:solidFill>
                  <a:effectLst/>
                </a:rPr>
                <a:t>06  </a:t>
              </a:r>
              <a:r>
                <a:rPr lang="en-US" sz="1600" b="1" dirty="0">
                  <a:solidFill>
                    <a:srgbClr val="1F2937"/>
                  </a:solidFill>
                  <a:effectLst/>
                </a:rPr>
                <a:t>Data Validation, Checking, Cleaning, and Processing_1</a:t>
              </a:r>
              <a:endParaRPr lang="en-US" sz="1600" dirty="0">
                <a:solidFill>
                  <a:srgbClr val="6B7280"/>
                </a:solidFill>
                <a:effectLst/>
              </a:endParaRPr>
            </a:p>
          </p:txBody>
        </p:sp>
      </p:grpSp>
      <p:grpSp>
        <p:nvGrpSpPr>
          <p:cNvPr id="27" name="Group 26">
            <a:extLst>
              <a:ext uri="{FF2B5EF4-FFF2-40B4-BE49-F238E27FC236}">
                <a16:creationId xmlns:a16="http://schemas.microsoft.com/office/drawing/2014/main" id="{B1D68C87-AAFB-0606-0AFD-3966472DAB99}"/>
              </a:ext>
            </a:extLst>
          </p:cNvPr>
          <p:cNvGrpSpPr/>
          <p:nvPr/>
        </p:nvGrpSpPr>
        <p:grpSpPr>
          <a:xfrm>
            <a:off x="1607151" y="3270668"/>
            <a:ext cx="5122608" cy="338554"/>
            <a:chOff x="963563" y="4957282"/>
            <a:chExt cx="5122608" cy="338554"/>
          </a:xfrm>
        </p:grpSpPr>
        <p:sp>
          <p:nvSpPr>
            <p:cNvPr id="28" name="Rectangle: Rounded Corners 27">
              <a:extLst>
                <a:ext uri="{FF2B5EF4-FFF2-40B4-BE49-F238E27FC236}">
                  <a16:creationId xmlns:a16="http://schemas.microsoft.com/office/drawing/2014/main" id="{CC8796BB-BD09-BF38-9045-97D96191A3DA}"/>
                </a:ext>
              </a:extLst>
            </p:cNvPr>
            <p:cNvSpPr/>
            <p:nvPr/>
          </p:nvSpPr>
          <p:spPr>
            <a:xfrm>
              <a:off x="1012167" y="5000150"/>
              <a:ext cx="252000" cy="252000"/>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29" name="TextBox 28">
              <a:extLst>
                <a:ext uri="{FF2B5EF4-FFF2-40B4-BE49-F238E27FC236}">
                  <a16:creationId xmlns:a16="http://schemas.microsoft.com/office/drawing/2014/main" id="{C7C16497-C0EF-897E-8D67-2F1A283B08A2}"/>
                </a:ext>
              </a:extLst>
            </p:cNvPr>
            <p:cNvSpPr txBox="1"/>
            <p:nvPr/>
          </p:nvSpPr>
          <p:spPr>
            <a:xfrm>
              <a:off x="963563" y="4957282"/>
              <a:ext cx="5122608" cy="338554"/>
            </a:xfrm>
            <a:prstGeom prst="rect">
              <a:avLst/>
            </a:prstGeom>
            <a:noFill/>
          </p:spPr>
          <p:txBody>
            <a:bodyPr wrap="square" anchor="ctr">
              <a:spAutoFit/>
            </a:bodyPr>
            <a:lstStyle/>
            <a:p>
              <a:pPr>
                <a:buNone/>
              </a:pPr>
              <a:r>
                <a:rPr lang="en-US" sz="1600" b="1" dirty="0">
                  <a:solidFill>
                    <a:srgbClr val="4A90E2"/>
                  </a:solidFill>
                  <a:effectLst/>
                </a:rPr>
                <a:t>07  </a:t>
              </a:r>
              <a:r>
                <a:rPr lang="en-US" sz="1600" b="1" dirty="0">
                  <a:solidFill>
                    <a:srgbClr val="1F2937"/>
                  </a:solidFill>
                </a:rPr>
                <a:t>Data Validation, Checking, Cleaning, and Processing_2</a:t>
              </a:r>
              <a:endParaRPr lang="en-US" sz="1600" dirty="0">
                <a:solidFill>
                  <a:srgbClr val="6B7280"/>
                </a:solidFill>
                <a:effectLst/>
              </a:endParaRPr>
            </a:p>
          </p:txBody>
        </p:sp>
      </p:grpSp>
      <p:grpSp>
        <p:nvGrpSpPr>
          <p:cNvPr id="30" name="Group 29">
            <a:extLst>
              <a:ext uri="{FF2B5EF4-FFF2-40B4-BE49-F238E27FC236}">
                <a16:creationId xmlns:a16="http://schemas.microsoft.com/office/drawing/2014/main" id="{6BC1CCED-BDF0-9C5C-CD08-072860983FAC}"/>
              </a:ext>
            </a:extLst>
          </p:cNvPr>
          <p:cNvGrpSpPr/>
          <p:nvPr/>
        </p:nvGrpSpPr>
        <p:grpSpPr>
          <a:xfrm>
            <a:off x="1607151" y="3644496"/>
            <a:ext cx="5122608" cy="338554"/>
            <a:chOff x="963563" y="4957282"/>
            <a:chExt cx="5122608" cy="338554"/>
          </a:xfrm>
        </p:grpSpPr>
        <p:sp>
          <p:nvSpPr>
            <p:cNvPr id="31" name="Rectangle: Rounded Corners 30">
              <a:extLst>
                <a:ext uri="{FF2B5EF4-FFF2-40B4-BE49-F238E27FC236}">
                  <a16:creationId xmlns:a16="http://schemas.microsoft.com/office/drawing/2014/main" id="{14D337FA-EEC2-0ED2-398C-7F0E65CE7791}"/>
                </a:ext>
              </a:extLst>
            </p:cNvPr>
            <p:cNvSpPr/>
            <p:nvPr/>
          </p:nvSpPr>
          <p:spPr>
            <a:xfrm>
              <a:off x="1012167" y="5000150"/>
              <a:ext cx="252000" cy="252000"/>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32" name="TextBox 31">
              <a:extLst>
                <a:ext uri="{FF2B5EF4-FFF2-40B4-BE49-F238E27FC236}">
                  <a16:creationId xmlns:a16="http://schemas.microsoft.com/office/drawing/2014/main" id="{C9FEDB3D-40D3-D349-2BF0-FA7BAA2ACDD9}"/>
                </a:ext>
              </a:extLst>
            </p:cNvPr>
            <p:cNvSpPr txBox="1"/>
            <p:nvPr/>
          </p:nvSpPr>
          <p:spPr>
            <a:xfrm>
              <a:off x="963563" y="4957282"/>
              <a:ext cx="5122608" cy="338554"/>
            </a:xfrm>
            <a:prstGeom prst="rect">
              <a:avLst/>
            </a:prstGeom>
            <a:noFill/>
          </p:spPr>
          <p:txBody>
            <a:bodyPr wrap="square" anchor="ctr">
              <a:spAutoFit/>
            </a:bodyPr>
            <a:lstStyle/>
            <a:p>
              <a:pPr>
                <a:buNone/>
              </a:pPr>
              <a:r>
                <a:rPr lang="en-US" sz="1600" b="1" dirty="0">
                  <a:solidFill>
                    <a:srgbClr val="4A90E2"/>
                  </a:solidFill>
                  <a:effectLst/>
                </a:rPr>
                <a:t>08  </a:t>
              </a:r>
              <a:r>
                <a:rPr lang="en-US" sz="1600" b="1" dirty="0">
                  <a:solidFill>
                    <a:srgbClr val="1F2937"/>
                  </a:solidFill>
                </a:rPr>
                <a:t>Data Validation, Checking, Cleaning, and Processing_3</a:t>
              </a:r>
              <a:endParaRPr lang="en-US" sz="1600" dirty="0">
                <a:solidFill>
                  <a:srgbClr val="6B7280"/>
                </a:solidFill>
                <a:effectLst/>
              </a:endParaRPr>
            </a:p>
          </p:txBody>
        </p:sp>
      </p:grpSp>
      <p:grpSp>
        <p:nvGrpSpPr>
          <p:cNvPr id="33" name="Group 32">
            <a:extLst>
              <a:ext uri="{FF2B5EF4-FFF2-40B4-BE49-F238E27FC236}">
                <a16:creationId xmlns:a16="http://schemas.microsoft.com/office/drawing/2014/main" id="{C251323C-C3A9-3CC4-E58C-6C2F66D23AAE}"/>
              </a:ext>
            </a:extLst>
          </p:cNvPr>
          <p:cNvGrpSpPr/>
          <p:nvPr/>
        </p:nvGrpSpPr>
        <p:grpSpPr>
          <a:xfrm>
            <a:off x="1607151" y="4018324"/>
            <a:ext cx="5122608" cy="338554"/>
            <a:chOff x="963563" y="4957282"/>
            <a:chExt cx="5122608" cy="338554"/>
          </a:xfrm>
        </p:grpSpPr>
        <p:sp>
          <p:nvSpPr>
            <p:cNvPr id="34" name="Rectangle: Rounded Corners 33">
              <a:extLst>
                <a:ext uri="{FF2B5EF4-FFF2-40B4-BE49-F238E27FC236}">
                  <a16:creationId xmlns:a16="http://schemas.microsoft.com/office/drawing/2014/main" id="{DA60A398-82AC-40E7-053F-91ED2370ECFD}"/>
                </a:ext>
              </a:extLst>
            </p:cNvPr>
            <p:cNvSpPr/>
            <p:nvPr/>
          </p:nvSpPr>
          <p:spPr>
            <a:xfrm>
              <a:off x="1012167" y="5000150"/>
              <a:ext cx="252000" cy="252000"/>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35" name="TextBox 34">
              <a:extLst>
                <a:ext uri="{FF2B5EF4-FFF2-40B4-BE49-F238E27FC236}">
                  <a16:creationId xmlns:a16="http://schemas.microsoft.com/office/drawing/2014/main" id="{AFB450C0-6416-0074-6EBB-365E10D13B6B}"/>
                </a:ext>
              </a:extLst>
            </p:cNvPr>
            <p:cNvSpPr txBox="1"/>
            <p:nvPr/>
          </p:nvSpPr>
          <p:spPr>
            <a:xfrm>
              <a:off x="963563" y="4957282"/>
              <a:ext cx="5122608" cy="338554"/>
            </a:xfrm>
            <a:prstGeom prst="rect">
              <a:avLst/>
            </a:prstGeom>
            <a:noFill/>
          </p:spPr>
          <p:txBody>
            <a:bodyPr wrap="square" anchor="ctr">
              <a:spAutoFit/>
            </a:bodyPr>
            <a:lstStyle/>
            <a:p>
              <a:pPr>
                <a:buNone/>
              </a:pPr>
              <a:r>
                <a:rPr lang="en-US" sz="1600" b="1" dirty="0">
                  <a:solidFill>
                    <a:srgbClr val="4A90E2"/>
                  </a:solidFill>
                  <a:effectLst/>
                </a:rPr>
                <a:t>09  </a:t>
              </a:r>
              <a:r>
                <a:rPr lang="en-US" sz="1600" b="1" dirty="0">
                  <a:solidFill>
                    <a:srgbClr val="1F2937"/>
                  </a:solidFill>
                </a:rPr>
                <a:t>Data Validation, Checking, Cleaning, and Processing_4</a:t>
              </a:r>
              <a:endParaRPr lang="en-US" sz="1600" dirty="0">
                <a:solidFill>
                  <a:srgbClr val="6B7280"/>
                </a:solidFill>
                <a:effectLst/>
              </a:endParaRPr>
            </a:p>
          </p:txBody>
        </p:sp>
      </p:grpSp>
      <p:grpSp>
        <p:nvGrpSpPr>
          <p:cNvPr id="36" name="Group 35">
            <a:extLst>
              <a:ext uri="{FF2B5EF4-FFF2-40B4-BE49-F238E27FC236}">
                <a16:creationId xmlns:a16="http://schemas.microsoft.com/office/drawing/2014/main" id="{171CA84D-A20F-48DA-0B01-4BD8A202F7FC}"/>
              </a:ext>
            </a:extLst>
          </p:cNvPr>
          <p:cNvGrpSpPr/>
          <p:nvPr/>
        </p:nvGrpSpPr>
        <p:grpSpPr>
          <a:xfrm>
            <a:off x="1607151" y="4392152"/>
            <a:ext cx="5122608" cy="338554"/>
            <a:chOff x="963563" y="4957282"/>
            <a:chExt cx="5122608" cy="338554"/>
          </a:xfrm>
        </p:grpSpPr>
        <p:sp>
          <p:nvSpPr>
            <p:cNvPr id="37" name="Rectangle: Rounded Corners 36">
              <a:extLst>
                <a:ext uri="{FF2B5EF4-FFF2-40B4-BE49-F238E27FC236}">
                  <a16:creationId xmlns:a16="http://schemas.microsoft.com/office/drawing/2014/main" id="{71E62A1D-4CA2-B544-F099-8222D6136F72}"/>
                </a:ext>
              </a:extLst>
            </p:cNvPr>
            <p:cNvSpPr/>
            <p:nvPr/>
          </p:nvSpPr>
          <p:spPr>
            <a:xfrm>
              <a:off x="1012167" y="5000150"/>
              <a:ext cx="252000" cy="252000"/>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38" name="TextBox 37">
              <a:extLst>
                <a:ext uri="{FF2B5EF4-FFF2-40B4-BE49-F238E27FC236}">
                  <a16:creationId xmlns:a16="http://schemas.microsoft.com/office/drawing/2014/main" id="{7F63376E-D598-F652-BAD4-019347E53CC8}"/>
                </a:ext>
              </a:extLst>
            </p:cNvPr>
            <p:cNvSpPr txBox="1"/>
            <p:nvPr/>
          </p:nvSpPr>
          <p:spPr>
            <a:xfrm>
              <a:off x="963563" y="4957282"/>
              <a:ext cx="5122608" cy="338554"/>
            </a:xfrm>
            <a:prstGeom prst="rect">
              <a:avLst/>
            </a:prstGeom>
            <a:noFill/>
          </p:spPr>
          <p:txBody>
            <a:bodyPr wrap="square" anchor="ctr">
              <a:spAutoFit/>
            </a:bodyPr>
            <a:lstStyle/>
            <a:p>
              <a:pPr>
                <a:buNone/>
              </a:pPr>
              <a:r>
                <a:rPr lang="en-US" sz="1600" b="1" dirty="0">
                  <a:solidFill>
                    <a:srgbClr val="4A90E2"/>
                  </a:solidFill>
                  <a:effectLst/>
                </a:rPr>
                <a:t>10  </a:t>
              </a:r>
              <a:r>
                <a:rPr lang="en-US" sz="1600" b="1" dirty="0">
                  <a:solidFill>
                    <a:srgbClr val="1F2937"/>
                  </a:solidFill>
                </a:rPr>
                <a:t>Data Validation, Checking, Cleaning, and Processing_5</a:t>
              </a:r>
              <a:endParaRPr lang="en-US" sz="1600" dirty="0">
                <a:solidFill>
                  <a:srgbClr val="6B7280"/>
                </a:solidFill>
                <a:effectLst/>
              </a:endParaRPr>
            </a:p>
          </p:txBody>
        </p:sp>
      </p:grpSp>
      <p:grpSp>
        <p:nvGrpSpPr>
          <p:cNvPr id="39" name="Group 38">
            <a:extLst>
              <a:ext uri="{FF2B5EF4-FFF2-40B4-BE49-F238E27FC236}">
                <a16:creationId xmlns:a16="http://schemas.microsoft.com/office/drawing/2014/main" id="{9CE78714-E264-5212-81FE-00F5F5558B89}"/>
              </a:ext>
            </a:extLst>
          </p:cNvPr>
          <p:cNvGrpSpPr/>
          <p:nvPr/>
        </p:nvGrpSpPr>
        <p:grpSpPr>
          <a:xfrm>
            <a:off x="1607151" y="4765980"/>
            <a:ext cx="5122608" cy="338554"/>
            <a:chOff x="963563" y="4957282"/>
            <a:chExt cx="5122608" cy="338554"/>
          </a:xfrm>
        </p:grpSpPr>
        <p:sp>
          <p:nvSpPr>
            <p:cNvPr id="40" name="Rectangle: Rounded Corners 39">
              <a:extLst>
                <a:ext uri="{FF2B5EF4-FFF2-40B4-BE49-F238E27FC236}">
                  <a16:creationId xmlns:a16="http://schemas.microsoft.com/office/drawing/2014/main" id="{C046E21A-C5CD-6B14-DDF1-6EA6485C7E45}"/>
                </a:ext>
              </a:extLst>
            </p:cNvPr>
            <p:cNvSpPr/>
            <p:nvPr/>
          </p:nvSpPr>
          <p:spPr>
            <a:xfrm>
              <a:off x="1012167" y="5000150"/>
              <a:ext cx="252000" cy="252000"/>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41" name="TextBox 40">
              <a:extLst>
                <a:ext uri="{FF2B5EF4-FFF2-40B4-BE49-F238E27FC236}">
                  <a16:creationId xmlns:a16="http://schemas.microsoft.com/office/drawing/2014/main" id="{A8F8E55A-CAC1-C0A0-FB20-ECC8A58E343C}"/>
                </a:ext>
              </a:extLst>
            </p:cNvPr>
            <p:cNvSpPr txBox="1"/>
            <p:nvPr/>
          </p:nvSpPr>
          <p:spPr>
            <a:xfrm>
              <a:off x="963563" y="4957282"/>
              <a:ext cx="5122608" cy="338554"/>
            </a:xfrm>
            <a:prstGeom prst="rect">
              <a:avLst/>
            </a:prstGeom>
            <a:noFill/>
          </p:spPr>
          <p:txBody>
            <a:bodyPr wrap="square" anchor="ctr">
              <a:spAutoFit/>
            </a:bodyPr>
            <a:lstStyle/>
            <a:p>
              <a:pPr>
                <a:buNone/>
              </a:pPr>
              <a:r>
                <a:rPr lang="en-US" sz="1600" b="1" dirty="0">
                  <a:solidFill>
                    <a:srgbClr val="4A90E2"/>
                  </a:solidFill>
                  <a:effectLst/>
                </a:rPr>
                <a:t>11  </a:t>
              </a:r>
              <a:r>
                <a:rPr lang="en-US" sz="1600" b="1" dirty="0">
                  <a:solidFill>
                    <a:srgbClr val="1F2937"/>
                  </a:solidFill>
                </a:rPr>
                <a:t>Data Validation, Checking, Cleaning, and Processing_6</a:t>
              </a:r>
              <a:endParaRPr lang="en-US" sz="1600" dirty="0">
                <a:solidFill>
                  <a:srgbClr val="6B7280"/>
                </a:solidFill>
                <a:effectLst/>
              </a:endParaRPr>
            </a:p>
          </p:txBody>
        </p:sp>
      </p:grpSp>
      <p:grpSp>
        <p:nvGrpSpPr>
          <p:cNvPr id="42" name="Group 41">
            <a:extLst>
              <a:ext uri="{FF2B5EF4-FFF2-40B4-BE49-F238E27FC236}">
                <a16:creationId xmlns:a16="http://schemas.microsoft.com/office/drawing/2014/main" id="{96B93ED4-2AB6-30A0-27A2-58F3E45FA57B}"/>
              </a:ext>
            </a:extLst>
          </p:cNvPr>
          <p:cNvGrpSpPr/>
          <p:nvPr/>
        </p:nvGrpSpPr>
        <p:grpSpPr>
          <a:xfrm>
            <a:off x="1607151" y="5139808"/>
            <a:ext cx="5122608" cy="338554"/>
            <a:chOff x="963563" y="4957282"/>
            <a:chExt cx="5122608" cy="338554"/>
          </a:xfrm>
        </p:grpSpPr>
        <p:sp>
          <p:nvSpPr>
            <p:cNvPr id="43" name="Rectangle: Rounded Corners 42">
              <a:extLst>
                <a:ext uri="{FF2B5EF4-FFF2-40B4-BE49-F238E27FC236}">
                  <a16:creationId xmlns:a16="http://schemas.microsoft.com/office/drawing/2014/main" id="{FF631C9B-F011-8893-D5EF-D4B7948A85B2}"/>
                </a:ext>
              </a:extLst>
            </p:cNvPr>
            <p:cNvSpPr/>
            <p:nvPr/>
          </p:nvSpPr>
          <p:spPr>
            <a:xfrm>
              <a:off x="1012167" y="5000150"/>
              <a:ext cx="252000" cy="252000"/>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44" name="TextBox 43">
              <a:extLst>
                <a:ext uri="{FF2B5EF4-FFF2-40B4-BE49-F238E27FC236}">
                  <a16:creationId xmlns:a16="http://schemas.microsoft.com/office/drawing/2014/main" id="{18D70C51-CC4C-22A9-D5A7-D68292551AF4}"/>
                </a:ext>
              </a:extLst>
            </p:cNvPr>
            <p:cNvSpPr txBox="1"/>
            <p:nvPr/>
          </p:nvSpPr>
          <p:spPr>
            <a:xfrm>
              <a:off x="963563" y="4957282"/>
              <a:ext cx="5122608" cy="338554"/>
            </a:xfrm>
            <a:prstGeom prst="rect">
              <a:avLst/>
            </a:prstGeom>
            <a:noFill/>
          </p:spPr>
          <p:txBody>
            <a:bodyPr wrap="square" anchor="ctr">
              <a:spAutoFit/>
            </a:bodyPr>
            <a:lstStyle/>
            <a:p>
              <a:pPr>
                <a:buNone/>
              </a:pPr>
              <a:r>
                <a:rPr lang="en-US" sz="1600" b="1" dirty="0">
                  <a:solidFill>
                    <a:srgbClr val="4A90E2"/>
                  </a:solidFill>
                  <a:effectLst/>
                </a:rPr>
                <a:t>12  </a:t>
              </a:r>
              <a:r>
                <a:rPr lang="en-US" sz="1600" b="1" dirty="0">
                  <a:solidFill>
                    <a:srgbClr val="1F2937"/>
                  </a:solidFill>
                </a:rPr>
                <a:t>Evaluation Parameters and Categorization</a:t>
              </a:r>
              <a:endParaRPr lang="en-US" sz="1600" dirty="0">
                <a:solidFill>
                  <a:srgbClr val="6B7280"/>
                </a:solidFill>
                <a:effectLst/>
              </a:endParaRPr>
            </a:p>
          </p:txBody>
        </p:sp>
      </p:grpSp>
      <p:grpSp>
        <p:nvGrpSpPr>
          <p:cNvPr id="45" name="Group 44">
            <a:extLst>
              <a:ext uri="{FF2B5EF4-FFF2-40B4-BE49-F238E27FC236}">
                <a16:creationId xmlns:a16="http://schemas.microsoft.com/office/drawing/2014/main" id="{D04A24E9-2D50-7239-0D1D-F3304A583E1B}"/>
              </a:ext>
            </a:extLst>
          </p:cNvPr>
          <p:cNvGrpSpPr/>
          <p:nvPr/>
        </p:nvGrpSpPr>
        <p:grpSpPr>
          <a:xfrm>
            <a:off x="1607151" y="5513636"/>
            <a:ext cx="5122608" cy="338554"/>
            <a:chOff x="963563" y="4957282"/>
            <a:chExt cx="5122608" cy="338554"/>
          </a:xfrm>
        </p:grpSpPr>
        <p:sp>
          <p:nvSpPr>
            <p:cNvPr id="46" name="Rectangle: Rounded Corners 45">
              <a:extLst>
                <a:ext uri="{FF2B5EF4-FFF2-40B4-BE49-F238E27FC236}">
                  <a16:creationId xmlns:a16="http://schemas.microsoft.com/office/drawing/2014/main" id="{32C38BBA-3164-632B-79E0-C7B5B0FF5DAD}"/>
                </a:ext>
              </a:extLst>
            </p:cNvPr>
            <p:cNvSpPr/>
            <p:nvPr/>
          </p:nvSpPr>
          <p:spPr>
            <a:xfrm>
              <a:off x="1012167" y="5000150"/>
              <a:ext cx="252000" cy="252000"/>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47" name="TextBox 46">
              <a:extLst>
                <a:ext uri="{FF2B5EF4-FFF2-40B4-BE49-F238E27FC236}">
                  <a16:creationId xmlns:a16="http://schemas.microsoft.com/office/drawing/2014/main" id="{C99BF7B3-DC73-CE5B-460C-657DD4673299}"/>
                </a:ext>
              </a:extLst>
            </p:cNvPr>
            <p:cNvSpPr txBox="1"/>
            <p:nvPr/>
          </p:nvSpPr>
          <p:spPr>
            <a:xfrm>
              <a:off x="963563" y="4957282"/>
              <a:ext cx="5122608" cy="338554"/>
            </a:xfrm>
            <a:prstGeom prst="rect">
              <a:avLst/>
            </a:prstGeom>
            <a:noFill/>
          </p:spPr>
          <p:txBody>
            <a:bodyPr wrap="square" anchor="ctr">
              <a:spAutoFit/>
            </a:bodyPr>
            <a:lstStyle/>
            <a:p>
              <a:r>
                <a:rPr lang="en-US" sz="1600" b="1" dirty="0">
                  <a:solidFill>
                    <a:srgbClr val="4A90E2"/>
                  </a:solidFill>
                  <a:effectLst/>
                </a:rPr>
                <a:t>13  </a:t>
              </a:r>
              <a:r>
                <a:rPr lang="en-US" sz="1600" b="1" dirty="0">
                  <a:solidFill>
                    <a:srgbClr val="2C3E50"/>
                  </a:solidFill>
                </a:rPr>
                <a:t>Reporting Requirements, Tools and Resources</a:t>
              </a:r>
            </a:p>
          </p:txBody>
        </p:sp>
      </p:grpSp>
      <p:grpSp>
        <p:nvGrpSpPr>
          <p:cNvPr id="48" name="Group 47">
            <a:extLst>
              <a:ext uri="{FF2B5EF4-FFF2-40B4-BE49-F238E27FC236}">
                <a16:creationId xmlns:a16="http://schemas.microsoft.com/office/drawing/2014/main" id="{39AE4801-7442-32FB-EFA8-7D625B412125}"/>
              </a:ext>
            </a:extLst>
          </p:cNvPr>
          <p:cNvGrpSpPr/>
          <p:nvPr/>
        </p:nvGrpSpPr>
        <p:grpSpPr>
          <a:xfrm>
            <a:off x="1607151" y="5887458"/>
            <a:ext cx="5122608" cy="338554"/>
            <a:chOff x="963563" y="4957282"/>
            <a:chExt cx="5122608" cy="338554"/>
          </a:xfrm>
        </p:grpSpPr>
        <p:sp>
          <p:nvSpPr>
            <p:cNvPr id="49" name="Rectangle: Rounded Corners 48">
              <a:extLst>
                <a:ext uri="{FF2B5EF4-FFF2-40B4-BE49-F238E27FC236}">
                  <a16:creationId xmlns:a16="http://schemas.microsoft.com/office/drawing/2014/main" id="{B6FDFC42-09B8-3989-13B9-0C0108DB3D3E}"/>
                </a:ext>
              </a:extLst>
            </p:cNvPr>
            <p:cNvSpPr/>
            <p:nvPr/>
          </p:nvSpPr>
          <p:spPr>
            <a:xfrm>
              <a:off x="1012167" y="5000150"/>
              <a:ext cx="252000" cy="252000"/>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50" name="TextBox 49">
              <a:extLst>
                <a:ext uri="{FF2B5EF4-FFF2-40B4-BE49-F238E27FC236}">
                  <a16:creationId xmlns:a16="http://schemas.microsoft.com/office/drawing/2014/main" id="{D4175FE3-8C90-4A1A-9FF9-6B26612F207F}"/>
                </a:ext>
              </a:extLst>
            </p:cNvPr>
            <p:cNvSpPr txBox="1"/>
            <p:nvPr/>
          </p:nvSpPr>
          <p:spPr>
            <a:xfrm>
              <a:off x="963563" y="4957282"/>
              <a:ext cx="5122608" cy="338554"/>
            </a:xfrm>
            <a:prstGeom prst="rect">
              <a:avLst/>
            </a:prstGeom>
            <a:noFill/>
          </p:spPr>
          <p:txBody>
            <a:bodyPr wrap="square" anchor="ctr">
              <a:spAutoFit/>
            </a:bodyPr>
            <a:lstStyle/>
            <a:p>
              <a:pPr>
                <a:buNone/>
              </a:pPr>
              <a:r>
                <a:rPr lang="en-US" sz="1600" b="1" dirty="0">
                  <a:solidFill>
                    <a:srgbClr val="4A90E2"/>
                  </a:solidFill>
                  <a:effectLst/>
                </a:rPr>
                <a:t>14  </a:t>
              </a:r>
              <a:r>
                <a:rPr lang="en-US" sz="1600" b="1" dirty="0">
                  <a:solidFill>
                    <a:srgbClr val="2C3E50"/>
                  </a:solidFill>
                </a:rPr>
                <a:t>Review and Continuous Improvement</a:t>
              </a:r>
              <a:endParaRPr lang="en-US" sz="1600" dirty="0">
                <a:solidFill>
                  <a:srgbClr val="6B7280"/>
                </a:solidFill>
                <a:effectLst/>
              </a:endParaRPr>
            </a:p>
          </p:txBody>
        </p:sp>
      </p:grpSp>
    </p:spTree>
    <p:extLst>
      <p:ext uri="{BB962C8B-B14F-4D97-AF65-F5344CB8AC3E}">
        <p14:creationId xmlns:p14="http://schemas.microsoft.com/office/powerpoint/2010/main" val="40127395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77B8F-E78E-235F-7A76-AFE35307C05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0588BD7-513A-1820-271C-542A9E9F5532}"/>
              </a:ext>
            </a:extLst>
          </p:cNvPr>
          <p:cNvSpPr txBox="1"/>
          <p:nvPr/>
        </p:nvSpPr>
        <p:spPr>
          <a:xfrm>
            <a:off x="839121" y="1294172"/>
            <a:ext cx="10536450" cy="2236510"/>
          </a:xfrm>
          <a:prstGeom prst="rect">
            <a:avLst/>
          </a:prstGeom>
          <a:noFill/>
          <a:ln>
            <a:noFill/>
          </a:ln>
        </p:spPr>
        <p:txBody>
          <a:bodyPr wrap="square">
            <a:spAutoFit/>
          </a:bodyPr>
          <a:lstStyle/>
          <a:p>
            <a:pPr algn="just">
              <a:spcAft>
                <a:spcPts val="750"/>
              </a:spcAft>
              <a:buNone/>
            </a:pPr>
            <a:r>
              <a:rPr lang="en-US" b="1" i="0" dirty="0">
                <a:solidFill>
                  <a:srgbClr val="415462"/>
                </a:solidFill>
                <a:effectLst/>
                <a:cs typeface="Times New Roman" panose="02020603050405020304" pitchFamily="18" charset="0"/>
              </a:rPr>
              <a:t>Purpose: </a:t>
            </a:r>
            <a:r>
              <a:rPr lang="en-US" b="0" i="0" dirty="0">
                <a:solidFill>
                  <a:srgbClr val="415462"/>
                </a:solidFill>
                <a:effectLst/>
                <a:cs typeface="Times New Roman" panose="02020603050405020304" pitchFamily="18" charset="0"/>
              </a:rPr>
              <a:t>The purpose of this Standard Operating Procedure (SOP) is to establish a systematic approach for the collection, analysis, and reporting of venue analytics and intelligence</a:t>
            </a:r>
            <a:r>
              <a:rPr lang="en-US" dirty="0">
                <a:solidFill>
                  <a:srgbClr val="415462"/>
                </a:solidFill>
                <a:cs typeface="Times New Roman" panose="02020603050405020304" pitchFamily="18" charset="0"/>
              </a:rPr>
              <a:t>.</a:t>
            </a:r>
            <a:endParaRPr lang="en-US" b="0" i="0" dirty="0">
              <a:solidFill>
                <a:srgbClr val="415462"/>
              </a:solidFill>
              <a:effectLst/>
              <a:cs typeface="Times New Roman" panose="02020603050405020304" pitchFamily="18" charset="0"/>
            </a:endParaRPr>
          </a:p>
          <a:p>
            <a:pPr algn="just">
              <a:spcAft>
                <a:spcPts val="750"/>
              </a:spcAft>
              <a:buNone/>
            </a:pPr>
            <a:r>
              <a:rPr lang="en-US" b="0" i="0" dirty="0">
                <a:solidFill>
                  <a:srgbClr val="415462"/>
                </a:solidFill>
                <a:effectLst/>
                <a:cs typeface="Times New Roman" panose="02020603050405020304" pitchFamily="18" charset="0"/>
              </a:rPr>
              <a:t>This procedure ensures that data-driven insights are used consistently to optimize exam scheduling operations, enhance candidate experience, improve safety protocols, and maximize revenue potential.</a:t>
            </a:r>
            <a:br>
              <a:rPr lang="en-US" b="0" i="0" dirty="0">
                <a:solidFill>
                  <a:srgbClr val="415462"/>
                </a:solidFill>
                <a:effectLst/>
                <a:cs typeface="Times New Roman" panose="02020603050405020304" pitchFamily="18" charset="0"/>
              </a:rPr>
            </a:br>
            <a:r>
              <a:rPr lang="en-US" b="0" i="0" dirty="0">
                <a:solidFill>
                  <a:srgbClr val="415462"/>
                </a:solidFill>
                <a:effectLst/>
                <a:cs typeface="Times New Roman" panose="02020603050405020304" pitchFamily="18" charset="0"/>
              </a:rPr>
              <a:t>Venues are not just logistical locations for exams; they directly impact exam integrity, delivery quality and candidate experience.</a:t>
            </a:r>
          </a:p>
          <a:p>
            <a:pPr algn="just">
              <a:spcAft>
                <a:spcPts val="750"/>
              </a:spcAft>
              <a:buNone/>
            </a:pPr>
            <a:endParaRPr lang="en-US" b="0" i="0" dirty="0">
              <a:solidFill>
                <a:srgbClr val="415462"/>
              </a:solidFill>
              <a:effectLst/>
              <a:cs typeface="Times New Roman" panose="02020603050405020304" pitchFamily="18" charset="0"/>
            </a:endParaRPr>
          </a:p>
        </p:txBody>
      </p:sp>
      <p:sp>
        <p:nvSpPr>
          <p:cNvPr id="18" name="TextBox 17">
            <a:extLst>
              <a:ext uri="{FF2B5EF4-FFF2-40B4-BE49-F238E27FC236}">
                <a16:creationId xmlns:a16="http://schemas.microsoft.com/office/drawing/2014/main" id="{CBC173CE-54E6-6DDC-D0D7-FF9563D202F2}"/>
              </a:ext>
            </a:extLst>
          </p:cNvPr>
          <p:cNvSpPr txBox="1"/>
          <p:nvPr/>
        </p:nvSpPr>
        <p:spPr>
          <a:xfrm>
            <a:off x="790267" y="781065"/>
            <a:ext cx="7473746" cy="369332"/>
          </a:xfrm>
          <a:prstGeom prst="rect">
            <a:avLst/>
          </a:prstGeom>
          <a:noFill/>
        </p:spPr>
        <p:txBody>
          <a:bodyPr wrap="square">
            <a:spAutoFit/>
          </a:bodyPr>
          <a:lstStyle/>
          <a:p>
            <a:r>
              <a:rPr lang="en-US" b="1" dirty="0">
                <a:solidFill>
                  <a:srgbClr val="2C3E50"/>
                </a:solidFill>
                <a:latin typeface="+mj-lt"/>
              </a:rPr>
              <a:t>1.0 Purpose and Description</a:t>
            </a:r>
          </a:p>
        </p:txBody>
      </p:sp>
      <p:sp>
        <p:nvSpPr>
          <p:cNvPr id="4" name="TextBox 3">
            <a:extLst>
              <a:ext uri="{FF2B5EF4-FFF2-40B4-BE49-F238E27FC236}">
                <a16:creationId xmlns:a16="http://schemas.microsoft.com/office/drawing/2014/main" id="{6802683E-B910-B164-BB84-E168D55E81FA}"/>
              </a:ext>
            </a:extLst>
          </p:cNvPr>
          <p:cNvSpPr txBox="1"/>
          <p:nvPr/>
        </p:nvSpPr>
        <p:spPr>
          <a:xfrm>
            <a:off x="839121" y="3495443"/>
            <a:ext cx="10536450" cy="2339102"/>
          </a:xfrm>
          <a:prstGeom prst="rect">
            <a:avLst/>
          </a:prstGeom>
          <a:noFill/>
        </p:spPr>
        <p:txBody>
          <a:bodyPr wrap="square">
            <a:spAutoFit/>
          </a:bodyPr>
          <a:lstStyle/>
          <a:p>
            <a:pPr algn="just">
              <a:spcAft>
                <a:spcPts val="750"/>
              </a:spcAft>
              <a:buNone/>
            </a:pPr>
            <a:r>
              <a:rPr lang="en-US" b="1" dirty="0">
                <a:solidFill>
                  <a:srgbClr val="415462"/>
                </a:solidFill>
                <a:cs typeface="Times New Roman" panose="02020603050405020304" pitchFamily="18" charset="0"/>
              </a:rPr>
              <a:t>Description: </a:t>
            </a:r>
            <a:r>
              <a:rPr lang="en-US" b="0" i="0" dirty="0">
                <a:solidFill>
                  <a:srgbClr val="415462"/>
                </a:solidFill>
                <a:effectLst/>
                <a:cs typeface="Times New Roman" panose="02020603050405020304" pitchFamily="18" charset="0"/>
              </a:rPr>
              <a:t>This assessment establishes a centralized analytics framework by consolidating inputs from Help Desk, Channel, Quality, Results, Operations and IT along with day-end observations and market feedback.</a:t>
            </a:r>
          </a:p>
          <a:p>
            <a:pPr algn="just">
              <a:spcAft>
                <a:spcPts val="750"/>
              </a:spcAft>
              <a:buNone/>
            </a:pPr>
            <a:r>
              <a:rPr lang="en-US" b="0" i="0" dirty="0">
                <a:solidFill>
                  <a:srgbClr val="415462"/>
                </a:solidFill>
                <a:effectLst/>
                <a:cs typeface="Times New Roman" panose="02020603050405020304" pitchFamily="18" charset="0"/>
              </a:rPr>
              <a:t>After collating and curing the data, venues are evaluated using defined parameters such as anomalies, FFA findings, call log trends, feedback and market sentiments.</a:t>
            </a:r>
          </a:p>
          <a:p>
            <a:pPr algn="just">
              <a:spcAft>
                <a:spcPts val="750"/>
              </a:spcAft>
              <a:buNone/>
            </a:pPr>
            <a:r>
              <a:rPr lang="en-US" b="0" i="0" dirty="0">
                <a:solidFill>
                  <a:srgbClr val="415462"/>
                </a:solidFill>
                <a:effectLst/>
                <a:cs typeface="Times New Roman" panose="02020603050405020304" pitchFamily="18" charset="0"/>
              </a:rPr>
              <a:t>Based on this evaluation, venues are categorized into risk-based segments like blacklisted, sensitive, average and good enabling reliable venue selection decisions.</a:t>
            </a:r>
          </a:p>
          <a:p>
            <a:pPr algn="just">
              <a:spcAft>
                <a:spcPts val="750"/>
              </a:spcAft>
              <a:buNone/>
            </a:pPr>
            <a:r>
              <a:rPr lang="en-US" b="0" i="0" dirty="0">
                <a:solidFill>
                  <a:srgbClr val="415462"/>
                </a:solidFill>
                <a:effectLst/>
                <a:cs typeface="Times New Roman" panose="02020603050405020304" pitchFamily="18" charset="0"/>
              </a:rPr>
              <a:t>Currently, we are doing this only for DATC venues and Gateway exams.</a:t>
            </a:r>
          </a:p>
        </p:txBody>
      </p:sp>
    </p:spTree>
    <p:extLst>
      <p:ext uri="{BB962C8B-B14F-4D97-AF65-F5344CB8AC3E}">
        <p14:creationId xmlns:p14="http://schemas.microsoft.com/office/powerpoint/2010/main" val="16973525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17794-F4B6-B3CE-6308-0E8493F5C09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0F18062-E616-2A87-7B07-67D850EECAF3}"/>
              </a:ext>
            </a:extLst>
          </p:cNvPr>
          <p:cNvSpPr txBox="1"/>
          <p:nvPr/>
        </p:nvSpPr>
        <p:spPr>
          <a:xfrm>
            <a:off x="822223" y="1388905"/>
            <a:ext cx="10298062" cy="1025922"/>
          </a:xfrm>
          <a:prstGeom prst="rect">
            <a:avLst/>
          </a:prstGeom>
          <a:noFill/>
        </p:spPr>
        <p:txBody>
          <a:bodyPr wrap="square">
            <a:spAutoFit/>
          </a:bodyPr>
          <a:lstStyle/>
          <a:p>
            <a:pPr algn="just">
              <a:spcAft>
                <a:spcPts val="750"/>
              </a:spcAft>
              <a:buNone/>
            </a:pPr>
            <a:r>
              <a:rPr lang="en-US" b="1" i="0" dirty="0">
                <a:solidFill>
                  <a:srgbClr val="415462"/>
                </a:solidFill>
                <a:effectLst/>
                <a:cs typeface="Times New Roman" panose="02020603050405020304" pitchFamily="18" charset="0"/>
              </a:rPr>
              <a:t>Objective:</a:t>
            </a:r>
            <a:r>
              <a:rPr lang="en-US" b="0" i="0" dirty="0">
                <a:solidFill>
                  <a:srgbClr val="415462"/>
                </a:solidFill>
                <a:effectLst/>
                <a:cs typeface="Times New Roman" panose="02020603050405020304" pitchFamily="18" charset="0"/>
              </a:rPr>
              <a:t> To enable data-driven, reliable venue usage decisions by providing clear performance-based recommendations prior to candidate scheduling.</a:t>
            </a:r>
          </a:p>
          <a:p>
            <a:pPr algn="just">
              <a:spcAft>
                <a:spcPts val="750"/>
              </a:spcAft>
              <a:buNone/>
            </a:pPr>
            <a:endParaRPr lang="en-US" b="0" i="0" dirty="0">
              <a:solidFill>
                <a:srgbClr val="415462"/>
              </a:solidFill>
              <a:effectLst/>
              <a:cs typeface="Times New Roman" panose="02020603050405020304" pitchFamily="18" charset="0"/>
            </a:endParaRPr>
          </a:p>
        </p:txBody>
      </p:sp>
      <p:sp>
        <p:nvSpPr>
          <p:cNvPr id="18" name="TextBox 17">
            <a:extLst>
              <a:ext uri="{FF2B5EF4-FFF2-40B4-BE49-F238E27FC236}">
                <a16:creationId xmlns:a16="http://schemas.microsoft.com/office/drawing/2014/main" id="{41B0E109-6A24-F01D-42BD-F5C668F6492C}"/>
              </a:ext>
            </a:extLst>
          </p:cNvPr>
          <p:cNvSpPr txBox="1"/>
          <p:nvPr/>
        </p:nvSpPr>
        <p:spPr>
          <a:xfrm>
            <a:off x="790267" y="781065"/>
            <a:ext cx="7473746" cy="369332"/>
          </a:xfrm>
          <a:prstGeom prst="rect">
            <a:avLst/>
          </a:prstGeom>
          <a:noFill/>
        </p:spPr>
        <p:txBody>
          <a:bodyPr wrap="square">
            <a:spAutoFit/>
          </a:bodyPr>
          <a:lstStyle/>
          <a:p>
            <a:r>
              <a:rPr lang="en-US" b="1" dirty="0">
                <a:solidFill>
                  <a:srgbClr val="2C3E50"/>
                </a:solidFill>
                <a:latin typeface="+mj-lt"/>
              </a:rPr>
              <a:t>2.0 Objective and Scope</a:t>
            </a:r>
          </a:p>
        </p:txBody>
      </p:sp>
      <p:sp>
        <p:nvSpPr>
          <p:cNvPr id="2" name="TextBox 1">
            <a:extLst>
              <a:ext uri="{FF2B5EF4-FFF2-40B4-BE49-F238E27FC236}">
                <a16:creationId xmlns:a16="http://schemas.microsoft.com/office/drawing/2014/main" id="{CC589961-DE0A-C1AA-11A1-03A2368FBDAB}"/>
              </a:ext>
            </a:extLst>
          </p:cNvPr>
          <p:cNvSpPr txBox="1"/>
          <p:nvPr/>
        </p:nvSpPr>
        <p:spPr>
          <a:xfrm>
            <a:off x="822223" y="2375275"/>
            <a:ext cx="10298062" cy="1128514"/>
          </a:xfrm>
          <a:prstGeom prst="rect">
            <a:avLst/>
          </a:prstGeom>
          <a:noFill/>
        </p:spPr>
        <p:txBody>
          <a:bodyPr wrap="square">
            <a:spAutoFit/>
          </a:bodyPr>
          <a:lstStyle/>
          <a:p>
            <a:pPr algn="just">
              <a:spcAft>
                <a:spcPts val="750"/>
              </a:spcAft>
              <a:buNone/>
            </a:pPr>
            <a:r>
              <a:rPr lang="en-US" b="1" i="0" dirty="0">
                <a:solidFill>
                  <a:srgbClr val="415462"/>
                </a:solidFill>
                <a:effectLst/>
                <a:cs typeface="Times New Roman" panose="02020603050405020304" pitchFamily="18" charset="0"/>
              </a:rPr>
              <a:t>Scope:</a:t>
            </a:r>
          </a:p>
          <a:p>
            <a:pPr algn="just">
              <a:spcAft>
                <a:spcPts val="750"/>
              </a:spcAft>
              <a:buNone/>
            </a:pPr>
            <a:r>
              <a:rPr lang="en-US" b="0" i="0" dirty="0">
                <a:solidFill>
                  <a:srgbClr val="415462"/>
                </a:solidFill>
                <a:effectLst/>
                <a:cs typeface="Times New Roman" panose="02020603050405020304" pitchFamily="18" charset="0"/>
              </a:rPr>
              <a:t>In Scope: DATC exam venues</a:t>
            </a:r>
          </a:p>
          <a:p>
            <a:pPr algn="just">
              <a:spcAft>
                <a:spcPts val="750"/>
              </a:spcAft>
              <a:buNone/>
            </a:pPr>
            <a:r>
              <a:rPr lang="en-US" b="0" i="0" dirty="0">
                <a:solidFill>
                  <a:srgbClr val="415462"/>
                </a:solidFill>
                <a:effectLst/>
                <a:cs typeface="Times New Roman" panose="02020603050405020304" pitchFamily="18" charset="0"/>
              </a:rPr>
              <a:t>Out of Scope: DOTC venues</a:t>
            </a:r>
          </a:p>
        </p:txBody>
      </p:sp>
    </p:spTree>
    <p:extLst>
      <p:ext uri="{BB962C8B-B14F-4D97-AF65-F5344CB8AC3E}">
        <p14:creationId xmlns:p14="http://schemas.microsoft.com/office/powerpoint/2010/main" val="2436808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F6DBD-BDA3-F537-7F31-FC8988D851C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32FB47C-5D17-8737-11D5-8EA70690C405}"/>
              </a:ext>
            </a:extLst>
          </p:cNvPr>
          <p:cNvSpPr txBox="1"/>
          <p:nvPr/>
        </p:nvSpPr>
        <p:spPr>
          <a:xfrm>
            <a:off x="822224" y="1388905"/>
            <a:ext cx="10298062" cy="2267287"/>
          </a:xfrm>
          <a:prstGeom prst="rect">
            <a:avLst/>
          </a:prstGeom>
          <a:noFill/>
        </p:spPr>
        <p:txBody>
          <a:bodyPr wrap="square">
            <a:spAutoFit/>
          </a:bodyPr>
          <a:lstStyle/>
          <a:p>
            <a:pPr marL="285750" indent="-285750" algn="just">
              <a:spcAft>
                <a:spcPts val="750"/>
              </a:spcAft>
              <a:buFont typeface="Arial" panose="020B0604020202020204" pitchFamily="34" charset="0"/>
              <a:buChar char="•"/>
            </a:pPr>
            <a:r>
              <a:rPr lang="en-US" dirty="0">
                <a:solidFill>
                  <a:srgbClr val="415462"/>
                </a:solidFill>
                <a:cs typeface="Times New Roman" panose="02020603050405020304" pitchFamily="18" charset="0"/>
              </a:rPr>
              <a:t>Channel Team</a:t>
            </a:r>
          </a:p>
          <a:p>
            <a:pPr marL="285750" indent="-285750" algn="just">
              <a:spcAft>
                <a:spcPts val="750"/>
              </a:spcAft>
              <a:buFont typeface="Arial" panose="020B0604020202020204" pitchFamily="34" charset="0"/>
              <a:buChar char="•"/>
            </a:pPr>
            <a:r>
              <a:rPr lang="en-US" i="0" dirty="0">
                <a:solidFill>
                  <a:srgbClr val="415462"/>
                </a:solidFill>
                <a:effectLst/>
                <a:cs typeface="Times New Roman" panose="02020603050405020304" pitchFamily="18" charset="0"/>
              </a:rPr>
              <a:t>Help Desk</a:t>
            </a:r>
          </a:p>
          <a:p>
            <a:pPr marL="285750" indent="-285750" algn="just">
              <a:spcAft>
                <a:spcPts val="750"/>
              </a:spcAft>
              <a:buFont typeface="Arial" panose="020B0604020202020204" pitchFamily="34" charset="0"/>
              <a:buChar char="•"/>
            </a:pPr>
            <a:r>
              <a:rPr lang="en-US" i="0" dirty="0">
                <a:solidFill>
                  <a:srgbClr val="415462"/>
                </a:solidFill>
                <a:effectLst/>
                <a:cs typeface="Times New Roman" panose="02020603050405020304" pitchFamily="18" charset="0"/>
              </a:rPr>
              <a:t>Result Team</a:t>
            </a:r>
          </a:p>
          <a:p>
            <a:pPr marL="285750" indent="-285750" algn="just">
              <a:spcAft>
                <a:spcPts val="750"/>
              </a:spcAft>
              <a:buFont typeface="Arial" panose="020B0604020202020204" pitchFamily="34" charset="0"/>
              <a:buChar char="•"/>
            </a:pPr>
            <a:r>
              <a:rPr lang="en-US" dirty="0">
                <a:solidFill>
                  <a:srgbClr val="415462"/>
                </a:solidFill>
                <a:cs typeface="Times New Roman" panose="02020603050405020304" pitchFamily="18" charset="0"/>
              </a:rPr>
              <a:t>Quality Team</a:t>
            </a:r>
          </a:p>
          <a:p>
            <a:pPr marL="285750" indent="-285750" algn="just">
              <a:spcAft>
                <a:spcPts val="750"/>
              </a:spcAft>
              <a:buFont typeface="Arial" panose="020B0604020202020204" pitchFamily="34" charset="0"/>
              <a:buChar char="•"/>
            </a:pPr>
            <a:r>
              <a:rPr lang="en-US" i="0" dirty="0">
                <a:solidFill>
                  <a:srgbClr val="415462"/>
                </a:solidFill>
                <a:effectLst/>
                <a:cs typeface="Times New Roman" panose="02020603050405020304" pitchFamily="18" charset="0"/>
              </a:rPr>
              <a:t>Operations Team</a:t>
            </a:r>
          </a:p>
          <a:p>
            <a:pPr marL="285750" indent="-285750" algn="just">
              <a:spcAft>
                <a:spcPts val="750"/>
              </a:spcAft>
              <a:buFont typeface="Arial" panose="020B0604020202020204" pitchFamily="34" charset="0"/>
              <a:buChar char="•"/>
            </a:pPr>
            <a:r>
              <a:rPr lang="en-US" dirty="0">
                <a:solidFill>
                  <a:srgbClr val="415462"/>
                </a:solidFill>
                <a:cs typeface="Times New Roman" panose="02020603050405020304" pitchFamily="18" charset="0"/>
              </a:rPr>
              <a:t>IT Team</a:t>
            </a:r>
            <a:endParaRPr lang="en-US" b="0" i="0" dirty="0">
              <a:solidFill>
                <a:srgbClr val="415462"/>
              </a:solidFill>
              <a:effectLst/>
              <a:cs typeface="Times New Roman" panose="02020603050405020304" pitchFamily="18" charset="0"/>
            </a:endParaRPr>
          </a:p>
        </p:txBody>
      </p:sp>
      <p:sp>
        <p:nvSpPr>
          <p:cNvPr id="18" name="TextBox 17">
            <a:extLst>
              <a:ext uri="{FF2B5EF4-FFF2-40B4-BE49-F238E27FC236}">
                <a16:creationId xmlns:a16="http://schemas.microsoft.com/office/drawing/2014/main" id="{BC1DBBDA-8792-FEF9-732F-ED08137E6EC8}"/>
              </a:ext>
            </a:extLst>
          </p:cNvPr>
          <p:cNvSpPr txBox="1"/>
          <p:nvPr/>
        </p:nvSpPr>
        <p:spPr>
          <a:xfrm>
            <a:off x="790267" y="781065"/>
            <a:ext cx="7473746" cy="369332"/>
          </a:xfrm>
          <a:prstGeom prst="rect">
            <a:avLst/>
          </a:prstGeom>
          <a:noFill/>
        </p:spPr>
        <p:txBody>
          <a:bodyPr wrap="square">
            <a:spAutoFit/>
          </a:bodyPr>
          <a:lstStyle/>
          <a:p>
            <a:r>
              <a:rPr lang="en-US" b="1" dirty="0">
                <a:solidFill>
                  <a:srgbClr val="2C3E50"/>
                </a:solidFill>
                <a:latin typeface="+mj-lt"/>
              </a:rPr>
              <a:t>3.0 Key Stakeholders</a:t>
            </a:r>
          </a:p>
        </p:txBody>
      </p:sp>
    </p:spTree>
    <p:extLst>
      <p:ext uri="{BB962C8B-B14F-4D97-AF65-F5344CB8AC3E}">
        <p14:creationId xmlns:p14="http://schemas.microsoft.com/office/powerpoint/2010/main" val="40035174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F82E7-8E3F-7694-1988-3FB9385019F8}"/>
            </a:ext>
          </a:extLst>
        </p:cNvPr>
        <p:cNvGrpSpPr/>
        <p:nvPr/>
      </p:nvGrpSpPr>
      <p:grpSpPr>
        <a:xfrm>
          <a:off x="0" y="0"/>
          <a:ext cx="0" cy="0"/>
          <a:chOff x="0" y="0"/>
          <a:chExt cx="0" cy="0"/>
        </a:xfrm>
      </p:grpSpPr>
      <p:sp>
        <p:nvSpPr>
          <p:cNvPr id="18" name="TextBox 17">
            <a:extLst>
              <a:ext uri="{FF2B5EF4-FFF2-40B4-BE49-F238E27FC236}">
                <a16:creationId xmlns:a16="http://schemas.microsoft.com/office/drawing/2014/main" id="{2D7FF4A5-6108-F066-B53C-BE27B2EE386D}"/>
              </a:ext>
            </a:extLst>
          </p:cNvPr>
          <p:cNvSpPr txBox="1"/>
          <p:nvPr/>
        </p:nvSpPr>
        <p:spPr>
          <a:xfrm>
            <a:off x="790267" y="781065"/>
            <a:ext cx="7473746" cy="369332"/>
          </a:xfrm>
          <a:prstGeom prst="rect">
            <a:avLst/>
          </a:prstGeom>
          <a:noFill/>
        </p:spPr>
        <p:txBody>
          <a:bodyPr wrap="square">
            <a:spAutoFit/>
          </a:bodyPr>
          <a:lstStyle/>
          <a:p>
            <a:r>
              <a:rPr lang="en-US" b="1" dirty="0">
                <a:solidFill>
                  <a:srgbClr val="2C3E50"/>
                </a:solidFill>
                <a:latin typeface="+mj-lt"/>
              </a:rPr>
              <a:t>4.0 Data Collection Procedures_1</a:t>
            </a:r>
          </a:p>
        </p:txBody>
      </p:sp>
      <p:sp>
        <p:nvSpPr>
          <p:cNvPr id="6" name="TextBox 5">
            <a:extLst>
              <a:ext uri="{FF2B5EF4-FFF2-40B4-BE49-F238E27FC236}">
                <a16:creationId xmlns:a16="http://schemas.microsoft.com/office/drawing/2014/main" id="{A5E24A1C-72AB-7C72-9C0D-9EFD514FD43F}"/>
              </a:ext>
            </a:extLst>
          </p:cNvPr>
          <p:cNvSpPr txBox="1"/>
          <p:nvPr/>
        </p:nvSpPr>
        <p:spPr>
          <a:xfrm>
            <a:off x="790267" y="1210446"/>
            <a:ext cx="10683978" cy="5273238"/>
          </a:xfrm>
          <a:prstGeom prst="rect">
            <a:avLst/>
          </a:prstGeom>
          <a:noFill/>
        </p:spPr>
        <p:txBody>
          <a:bodyPr wrap="square">
            <a:spAutoFit/>
          </a:bodyPr>
          <a:lstStyle/>
          <a:p>
            <a:pPr algn="just">
              <a:spcAft>
                <a:spcPts val="750"/>
              </a:spcAft>
              <a:buNone/>
            </a:pPr>
            <a:r>
              <a:rPr lang="en-US" sz="1600" b="1" i="0" dirty="0">
                <a:solidFill>
                  <a:srgbClr val="415462"/>
                </a:solidFill>
                <a:effectLst/>
              </a:rPr>
              <a:t>4.1 Data collection from Channel Team:</a:t>
            </a:r>
          </a:p>
          <a:p>
            <a:pPr algn="just">
              <a:spcAft>
                <a:spcPts val="750"/>
              </a:spcAft>
              <a:buNone/>
            </a:pPr>
            <a:r>
              <a:rPr lang="en-US" sz="1600" b="0" i="0" dirty="0">
                <a:solidFill>
                  <a:srgbClr val="415462"/>
                </a:solidFill>
                <a:effectLst/>
              </a:rPr>
              <a:t>We are collecting the updated VMS master from the Channel Team to ensure accurate information on active/inactive, permanently closed, blacklisted, and customer-specific blacklisted venues. This also includes validation to ensure there are no duplicate DMS codes or venue names, and that city, state, region, pin code, and address details are complete and correct, covering both existing and newly added venues.</a:t>
            </a:r>
          </a:p>
          <a:p>
            <a:pPr algn="just">
              <a:spcAft>
                <a:spcPts val="750"/>
              </a:spcAft>
              <a:buNone/>
            </a:pPr>
            <a:endParaRPr lang="en-US" sz="1000" b="1" i="0" dirty="0">
              <a:solidFill>
                <a:srgbClr val="415462"/>
              </a:solidFill>
              <a:effectLst/>
            </a:endParaRPr>
          </a:p>
          <a:p>
            <a:pPr algn="just">
              <a:spcAft>
                <a:spcPts val="750"/>
              </a:spcAft>
              <a:buNone/>
            </a:pPr>
            <a:r>
              <a:rPr lang="en-US" sz="1600" b="1" dirty="0">
                <a:solidFill>
                  <a:srgbClr val="415462"/>
                </a:solidFill>
              </a:rPr>
              <a:t>4</a:t>
            </a:r>
            <a:r>
              <a:rPr lang="en-US" sz="1600" b="1" i="0" dirty="0">
                <a:solidFill>
                  <a:srgbClr val="415462"/>
                </a:solidFill>
                <a:effectLst/>
              </a:rPr>
              <a:t>.2 Data collection from Help Desk Team:</a:t>
            </a:r>
          </a:p>
          <a:p>
            <a:pPr algn="just">
              <a:spcAft>
                <a:spcPts val="750"/>
              </a:spcAft>
              <a:buNone/>
            </a:pPr>
            <a:r>
              <a:rPr lang="en-US" sz="1600" b="0" i="0" dirty="0">
                <a:solidFill>
                  <a:srgbClr val="415462"/>
                </a:solidFill>
                <a:effectLst/>
              </a:rPr>
              <a:t>We collect call log data from the Help Desk Team; they extract it </a:t>
            </a:r>
            <a:r>
              <a:rPr lang="en-US" sz="1600" dirty="0">
                <a:solidFill>
                  <a:srgbClr val="415462"/>
                </a:solidFill>
              </a:rPr>
              <a:t>from ManageEngine for the required period </a:t>
            </a:r>
            <a:r>
              <a:rPr lang="en-US" sz="1600" b="0" i="0" dirty="0">
                <a:solidFill>
                  <a:srgbClr val="415462"/>
                </a:solidFill>
                <a:effectLst/>
              </a:rPr>
              <a:t>and share it for analysis.</a:t>
            </a:r>
          </a:p>
          <a:p>
            <a:pPr algn="just">
              <a:spcAft>
                <a:spcPts val="750"/>
              </a:spcAft>
              <a:buNone/>
            </a:pPr>
            <a:endParaRPr lang="en-US" sz="1000" b="1" i="0" dirty="0">
              <a:solidFill>
                <a:srgbClr val="415462"/>
              </a:solidFill>
              <a:effectLst/>
            </a:endParaRPr>
          </a:p>
          <a:p>
            <a:pPr algn="just">
              <a:spcAft>
                <a:spcPts val="750"/>
              </a:spcAft>
              <a:buNone/>
            </a:pPr>
            <a:r>
              <a:rPr lang="en-US" sz="1600" b="1" dirty="0">
                <a:solidFill>
                  <a:srgbClr val="415462"/>
                </a:solidFill>
              </a:rPr>
              <a:t>4</a:t>
            </a:r>
            <a:r>
              <a:rPr lang="en-US" sz="1600" b="1" i="0" dirty="0">
                <a:solidFill>
                  <a:srgbClr val="415462"/>
                </a:solidFill>
                <a:effectLst/>
              </a:rPr>
              <a:t>.3 Data collection from Result Team:</a:t>
            </a:r>
          </a:p>
          <a:p>
            <a:pPr algn="just">
              <a:spcAft>
                <a:spcPts val="750"/>
              </a:spcAft>
              <a:buNone/>
            </a:pPr>
            <a:r>
              <a:rPr lang="en-US" sz="1600" b="0" i="0" dirty="0">
                <a:solidFill>
                  <a:srgbClr val="415462"/>
                </a:solidFill>
                <a:effectLst/>
              </a:rPr>
              <a:t>We collect FFA (Fast Finger Analysis) data from the Result Team. This will help us identify sensitive venues where anomalies have occurred.</a:t>
            </a:r>
          </a:p>
          <a:p>
            <a:pPr algn="just">
              <a:spcAft>
                <a:spcPts val="750"/>
              </a:spcAft>
              <a:buNone/>
            </a:pPr>
            <a:endParaRPr lang="en-US" sz="1000" dirty="0">
              <a:solidFill>
                <a:srgbClr val="415462"/>
              </a:solidFill>
            </a:endParaRPr>
          </a:p>
          <a:p>
            <a:pPr algn="just">
              <a:spcAft>
                <a:spcPts val="750"/>
              </a:spcAft>
              <a:buNone/>
            </a:pPr>
            <a:r>
              <a:rPr lang="en-US" sz="1600" b="1" dirty="0">
                <a:solidFill>
                  <a:srgbClr val="415462"/>
                </a:solidFill>
              </a:rPr>
              <a:t>4.4 Data collection from Quality Team:</a:t>
            </a:r>
          </a:p>
          <a:p>
            <a:pPr algn="just">
              <a:spcAft>
                <a:spcPts val="750"/>
              </a:spcAft>
              <a:buNone/>
            </a:pPr>
            <a:r>
              <a:rPr lang="en-US" sz="1600" dirty="0">
                <a:solidFill>
                  <a:srgbClr val="415462"/>
                </a:solidFill>
              </a:rPr>
              <a:t>The Quality Team provides candidate-wise timely delivery data. This data helps us understand, batch-wise and date-wise, how many exams were conducted at each venue. We map this information with other identified issues to determine problematic batches and venues, along with the corresponding date and exam details.</a:t>
            </a:r>
            <a:endParaRPr lang="en-US" sz="1600" b="0" i="0" dirty="0">
              <a:solidFill>
                <a:srgbClr val="415462"/>
              </a:solidFill>
              <a:effectLst/>
            </a:endParaRPr>
          </a:p>
        </p:txBody>
      </p:sp>
    </p:spTree>
    <p:extLst>
      <p:ext uri="{BB962C8B-B14F-4D97-AF65-F5344CB8AC3E}">
        <p14:creationId xmlns:p14="http://schemas.microsoft.com/office/powerpoint/2010/main" val="12300586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5BA83-C132-7CB4-FD92-37B86D6091D2}"/>
            </a:ext>
          </a:extLst>
        </p:cNvPr>
        <p:cNvGrpSpPr/>
        <p:nvPr/>
      </p:nvGrpSpPr>
      <p:grpSpPr>
        <a:xfrm>
          <a:off x="0" y="0"/>
          <a:ext cx="0" cy="0"/>
          <a:chOff x="0" y="0"/>
          <a:chExt cx="0" cy="0"/>
        </a:xfrm>
      </p:grpSpPr>
      <p:sp>
        <p:nvSpPr>
          <p:cNvPr id="18" name="TextBox 17">
            <a:extLst>
              <a:ext uri="{FF2B5EF4-FFF2-40B4-BE49-F238E27FC236}">
                <a16:creationId xmlns:a16="http://schemas.microsoft.com/office/drawing/2014/main" id="{62A036F6-F5D8-FCBA-6B27-06F2EF547009}"/>
              </a:ext>
            </a:extLst>
          </p:cNvPr>
          <p:cNvSpPr txBox="1"/>
          <p:nvPr/>
        </p:nvSpPr>
        <p:spPr>
          <a:xfrm>
            <a:off x="790267" y="781065"/>
            <a:ext cx="7473746" cy="369332"/>
          </a:xfrm>
          <a:prstGeom prst="rect">
            <a:avLst/>
          </a:prstGeom>
          <a:noFill/>
        </p:spPr>
        <p:txBody>
          <a:bodyPr wrap="square">
            <a:spAutoFit/>
          </a:bodyPr>
          <a:lstStyle/>
          <a:p>
            <a:r>
              <a:rPr lang="en-US" b="1" dirty="0">
                <a:solidFill>
                  <a:srgbClr val="2C3E50"/>
                </a:solidFill>
                <a:latin typeface="+mj-lt"/>
              </a:rPr>
              <a:t>4.0 Data Collection Procedures_2</a:t>
            </a:r>
          </a:p>
        </p:txBody>
      </p:sp>
      <p:sp>
        <p:nvSpPr>
          <p:cNvPr id="6" name="TextBox 5">
            <a:extLst>
              <a:ext uri="{FF2B5EF4-FFF2-40B4-BE49-F238E27FC236}">
                <a16:creationId xmlns:a16="http://schemas.microsoft.com/office/drawing/2014/main" id="{548297FB-0520-65E6-CCEF-0664297AD87D}"/>
              </a:ext>
            </a:extLst>
          </p:cNvPr>
          <p:cNvSpPr txBox="1"/>
          <p:nvPr/>
        </p:nvSpPr>
        <p:spPr>
          <a:xfrm>
            <a:off x="790267" y="1210446"/>
            <a:ext cx="10683978" cy="3221395"/>
          </a:xfrm>
          <a:prstGeom prst="rect">
            <a:avLst/>
          </a:prstGeom>
          <a:noFill/>
        </p:spPr>
        <p:txBody>
          <a:bodyPr wrap="square">
            <a:spAutoFit/>
          </a:bodyPr>
          <a:lstStyle/>
          <a:p>
            <a:pPr algn="just">
              <a:spcAft>
                <a:spcPts val="750"/>
              </a:spcAft>
              <a:buNone/>
            </a:pPr>
            <a:r>
              <a:rPr lang="en-US" sz="1600" b="1" i="0" dirty="0">
                <a:solidFill>
                  <a:srgbClr val="415462"/>
                </a:solidFill>
                <a:effectLst/>
              </a:rPr>
              <a:t>4.5 Data collection from Operations Team:</a:t>
            </a:r>
          </a:p>
          <a:p>
            <a:pPr algn="just">
              <a:spcAft>
                <a:spcPts val="750"/>
              </a:spcAft>
              <a:buNone/>
            </a:pPr>
            <a:r>
              <a:rPr lang="en-US" sz="1600" b="0" i="0" dirty="0">
                <a:solidFill>
                  <a:srgbClr val="415462"/>
                </a:solidFill>
                <a:effectLst/>
              </a:rPr>
              <a:t>The Operations Team provides suspicious activity data based on day-end observations. This helps us identify the list of venues where suspicious activities occurred, along with the corresponding date and exam name.</a:t>
            </a:r>
          </a:p>
          <a:p>
            <a:pPr algn="just">
              <a:spcAft>
                <a:spcPts val="750"/>
              </a:spcAft>
              <a:buNone/>
            </a:pPr>
            <a:endParaRPr lang="en-US" sz="1000" b="1" i="0" dirty="0">
              <a:solidFill>
                <a:srgbClr val="415462"/>
              </a:solidFill>
              <a:effectLst/>
            </a:endParaRPr>
          </a:p>
          <a:p>
            <a:pPr algn="just">
              <a:spcAft>
                <a:spcPts val="750"/>
              </a:spcAft>
              <a:buNone/>
            </a:pPr>
            <a:r>
              <a:rPr lang="en-US" sz="1600" b="1" dirty="0">
                <a:solidFill>
                  <a:srgbClr val="415462"/>
                </a:solidFill>
              </a:rPr>
              <a:t>4</a:t>
            </a:r>
            <a:r>
              <a:rPr lang="en-US" sz="1600" b="1" i="0" dirty="0">
                <a:solidFill>
                  <a:srgbClr val="415462"/>
                </a:solidFill>
                <a:effectLst/>
              </a:rPr>
              <a:t>.6 Data collection from IT Team:</a:t>
            </a:r>
          </a:p>
          <a:p>
            <a:pPr algn="just">
              <a:spcAft>
                <a:spcPts val="750"/>
              </a:spcAft>
              <a:buNone/>
            </a:pPr>
            <a:r>
              <a:rPr lang="en-US" sz="1600" b="0" i="0" dirty="0">
                <a:solidFill>
                  <a:srgbClr val="415462"/>
                </a:solidFill>
                <a:effectLst/>
              </a:rPr>
              <a:t>The IT Team provides details of suspended IT machines (PCs, tablets, and laptops), along with their exam details and MAC IDs. These machines are blacklisted. Wherever such machines are found to have been used in exams at specific venues, we block those machines and mark the corresponding venues as suspicious. To collect this data, we have created a Google Form, which the IT Team is required to fill out accordingly for each exam event.</a:t>
            </a:r>
          </a:p>
          <a:p>
            <a:pPr algn="just">
              <a:spcAft>
                <a:spcPts val="750"/>
              </a:spcAft>
              <a:buNone/>
            </a:pPr>
            <a:r>
              <a:rPr lang="en-US" sz="1600" dirty="0">
                <a:solidFill>
                  <a:srgbClr val="415462"/>
                </a:solidFill>
              </a:rPr>
              <a:t>(Note: Currently, updated data is not available with the IT Team. Once the data is updated, we will start incorporating it into this analysis.)</a:t>
            </a:r>
            <a:endParaRPr lang="en-US" sz="1600" b="0" i="0" dirty="0">
              <a:solidFill>
                <a:srgbClr val="415462"/>
              </a:solidFill>
              <a:effectLst/>
            </a:endParaRPr>
          </a:p>
        </p:txBody>
      </p:sp>
    </p:spTree>
    <p:extLst>
      <p:ext uri="{BB962C8B-B14F-4D97-AF65-F5344CB8AC3E}">
        <p14:creationId xmlns:p14="http://schemas.microsoft.com/office/powerpoint/2010/main" val="17458000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29A32-7B48-1130-F526-02ADCCC7B244}"/>
            </a:ext>
          </a:extLst>
        </p:cNvPr>
        <p:cNvGrpSpPr/>
        <p:nvPr/>
      </p:nvGrpSpPr>
      <p:grpSpPr>
        <a:xfrm>
          <a:off x="0" y="0"/>
          <a:ext cx="0" cy="0"/>
          <a:chOff x="0" y="0"/>
          <a:chExt cx="0" cy="0"/>
        </a:xfrm>
      </p:grpSpPr>
      <p:sp>
        <p:nvSpPr>
          <p:cNvPr id="18" name="TextBox 17">
            <a:extLst>
              <a:ext uri="{FF2B5EF4-FFF2-40B4-BE49-F238E27FC236}">
                <a16:creationId xmlns:a16="http://schemas.microsoft.com/office/drawing/2014/main" id="{3BED35AE-406A-624A-78F5-BA154A2C1BDB}"/>
              </a:ext>
            </a:extLst>
          </p:cNvPr>
          <p:cNvSpPr txBox="1"/>
          <p:nvPr/>
        </p:nvSpPr>
        <p:spPr>
          <a:xfrm>
            <a:off x="790267" y="781065"/>
            <a:ext cx="7473746" cy="369332"/>
          </a:xfrm>
          <a:prstGeom prst="rect">
            <a:avLst/>
          </a:prstGeom>
          <a:noFill/>
        </p:spPr>
        <p:txBody>
          <a:bodyPr wrap="square">
            <a:spAutoFit/>
          </a:bodyPr>
          <a:lstStyle/>
          <a:p>
            <a:r>
              <a:rPr lang="en-US" b="1" dirty="0">
                <a:solidFill>
                  <a:srgbClr val="2C3E50"/>
                </a:solidFill>
                <a:latin typeface="+mj-lt"/>
              </a:rPr>
              <a:t>5.0 Data Validation, Checking, Cleaning, and Processing_1</a:t>
            </a:r>
          </a:p>
        </p:txBody>
      </p:sp>
      <p:sp>
        <p:nvSpPr>
          <p:cNvPr id="6" name="TextBox 5">
            <a:extLst>
              <a:ext uri="{FF2B5EF4-FFF2-40B4-BE49-F238E27FC236}">
                <a16:creationId xmlns:a16="http://schemas.microsoft.com/office/drawing/2014/main" id="{EB83FB90-76FA-EE28-63F1-0EDE79B06813}"/>
              </a:ext>
            </a:extLst>
          </p:cNvPr>
          <p:cNvSpPr txBox="1"/>
          <p:nvPr/>
        </p:nvSpPr>
        <p:spPr>
          <a:xfrm>
            <a:off x="790267" y="1284188"/>
            <a:ext cx="10683978" cy="338554"/>
          </a:xfrm>
          <a:prstGeom prst="rect">
            <a:avLst/>
          </a:prstGeom>
          <a:noFill/>
        </p:spPr>
        <p:txBody>
          <a:bodyPr wrap="square">
            <a:spAutoFit/>
          </a:bodyPr>
          <a:lstStyle/>
          <a:p>
            <a:pPr algn="just">
              <a:spcAft>
                <a:spcPts val="750"/>
              </a:spcAft>
              <a:buNone/>
            </a:pPr>
            <a:r>
              <a:rPr lang="en-US" sz="1600" i="0" dirty="0">
                <a:solidFill>
                  <a:srgbClr val="415462"/>
                </a:solidFill>
                <a:effectLst/>
              </a:rPr>
              <a:t>After collecting all the data, we will proceed with the data validation, checking, cleaning, and processing as outlined below:</a:t>
            </a:r>
          </a:p>
        </p:txBody>
      </p:sp>
      <p:sp>
        <p:nvSpPr>
          <p:cNvPr id="3" name="TextBox 2">
            <a:extLst>
              <a:ext uri="{FF2B5EF4-FFF2-40B4-BE49-F238E27FC236}">
                <a16:creationId xmlns:a16="http://schemas.microsoft.com/office/drawing/2014/main" id="{F707B6B0-7108-3CD9-14FE-4D911FEFE359}"/>
              </a:ext>
            </a:extLst>
          </p:cNvPr>
          <p:cNvSpPr txBox="1"/>
          <p:nvPr/>
        </p:nvSpPr>
        <p:spPr>
          <a:xfrm>
            <a:off x="790267" y="1687286"/>
            <a:ext cx="10683978" cy="4873129"/>
          </a:xfrm>
          <a:prstGeom prst="rect">
            <a:avLst/>
          </a:prstGeom>
          <a:noFill/>
        </p:spPr>
        <p:txBody>
          <a:bodyPr wrap="square">
            <a:spAutoFit/>
          </a:bodyPr>
          <a:lstStyle>
            <a:defPPr>
              <a:defRPr lang="en-US"/>
            </a:defPPr>
            <a:lvl1pPr algn="just">
              <a:spcAft>
                <a:spcPts val="750"/>
              </a:spcAft>
              <a:buNone/>
              <a:defRPr sz="1600" i="0">
                <a:solidFill>
                  <a:srgbClr val="415462"/>
                </a:solidFill>
                <a:effectLst/>
              </a:defRPr>
            </a:lvl1pPr>
          </a:lstStyle>
          <a:p>
            <a:r>
              <a:rPr lang="en-US" b="1" dirty="0"/>
              <a:t>Channel Team Data – Venue Master</a:t>
            </a:r>
          </a:p>
          <a:p>
            <a:r>
              <a:rPr lang="en-US" b="1" dirty="0"/>
              <a:t>Checking:</a:t>
            </a:r>
          </a:p>
          <a:p>
            <a:pPr marL="285750" indent="-285750">
              <a:buFont typeface="Arial" panose="020B0604020202020204" pitchFamily="34" charset="0"/>
              <a:buChar char="•"/>
            </a:pPr>
            <a:r>
              <a:rPr lang="en-US" dirty="0"/>
              <a:t>Verify that complete and correct information is available for venue name, address, city, state, </a:t>
            </a:r>
            <a:r>
              <a:rPr lang="en-US" dirty="0" err="1"/>
              <a:t>pincode</a:t>
            </a:r>
            <a:r>
              <a:rPr lang="en-US" dirty="0"/>
              <a:t>, and region</a:t>
            </a:r>
          </a:p>
          <a:p>
            <a:pPr marL="285750" indent="-285750">
              <a:buFont typeface="Arial" panose="020B0604020202020204" pitchFamily="34" charset="0"/>
              <a:buChar char="•"/>
            </a:pPr>
            <a:r>
              <a:rPr lang="en-US" dirty="0"/>
              <a:t>Confirm that the venue status (Active / Inactive) is correctly updated</a:t>
            </a:r>
          </a:p>
          <a:p>
            <a:pPr marL="285750" indent="-285750">
              <a:buFont typeface="Arial" panose="020B0604020202020204" pitchFamily="34" charset="0"/>
              <a:buChar char="•"/>
            </a:pPr>
            <a:r>
              <a:rPr lang="en-US" dirty="0"/>
              <a:t>Validate blacklisted venue details (completely blacklisted or customer-specific blacklisted)</a:t>
            </a:r>
          </a:p>
          <a:p>
            <a:pPr marL="285750" indent="-285750">
              <a:buFont typeface="Arial" panose="020B0604020202020204" pitchFamily="34" charset="0"/>
              <a:buChar char="•"/>
            </a:pPr>
            <a:r>
              <a:rPr lang="en-US" dirty="0"/>
              <a:t>Ensure that closed venues are correctly marked and their status is updated</a:t>
            </a:r>
          </a:p>
          <a:p>
            <a:pPr marL="285750" indent="-285750">
              <a:buFont typeface="Arial" panose="020B0604020202020204" pitchFamily="34" charset="0"/>
              <a:buChar char="•"/>
            </a:pPr>
            <a:r>
              <a:rPr lang="en-US" dirty="0"/>
              <a:t>Ensure there are no duplicate records and no duplicate DMS codes</a:t>
            </a:r>
          </a:p>
          <a:p>
            <a:endParaRPr lang="en-US" sz="1000" dirty="0"/>
          </a:p>
          <a:p>
            <a:r>
              <a:rPr lang="en-US" b="1" dirty="0"/>
              <a:t>Cleaning:</a:t>
            </a:r>
          </a:p>
          <a:p>
            <a:pPr marL="285750" indent="-285750">
              <a:buFont typeface="Arial" panose="020B0604020202020204" pitchFamily="34" charset="0"/>
              <a:buChar char="•"/>
            </a:pPr>
            <a:r>
              <a:rPr lang="en-US" dirty="0"/>
              <a:t>Remove duplicate records and duplicate DMS codes</a:t>
            </a:r>
          </a:p>
          <a:p>
            <a:pPr marL="285750" indent="-285750">
              <a:buFont typeface="Arial" panose="020B0604020202020204" pitchFamily="34" charset="0"/>
              <a:buChar char="•"/>
            </a:pPr>
            <a:r>
              <a:rPr lang="en-US" dirty="0"/>
              <a:t>Correct inconsistencies in venue names, addresses, city, state, </a:t>
            </a:r>
            <a:r>
              <a:rPr lang="en-US" dirty="0" err="1"/>
              <a:t>pincode</a:t>
            </a:r>
            <a:r>
              <a:rPr lang="en-US" dirty="0"/>
              <a:t>, and region</a:t>
            </a:r>
          </a:p>
          <a:p>
            <a:endParaRPr lang="en-US" sz="1000" dirty="0"/>
          </a:p>
          <a:p>
            <a:r>
              <a:rPr lang="en-US" b="1" dirty="0"/>
              <a:t>Processing:</a:t>
            </a:r>
          </a:p>
          <a:p>
            <a:pPr marL="285750" indent="-285750">
              <a:buFont typeface="Arial" panose="020B0604020202020204" pitchFamily="34" charset="0"/>
              <a:buChar char="•"/>
            </a:pPr>
            <a:r>
              <a:rPr lang="en-US" dirty="0"/>
              <a:t>Finalize cleaned and validated dataset for further analysis</a:t>
            </a:r>
          </a:p>
        </p:txBody>
      </p:sp>
    </p:spTree>
    <p:extLst>
      <p:ext uri="{BB962C8B-B14F-4D97-AF65-F5344CB8AC3E}">
        <p14:creationId xmlns:p14="http://schemas.microsoft.com/office/powerpoint/2010/main" val="21405470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F214A-CE0D-DDB7-116A-1E194E56DD8A}"/>
            </a:ext>
          </a:extLst>
        </p:cNvPr>
        <p:cNvGrpSpPr/>
        <p:nvPr/>
      </p:nvGrpSpPr>
      <p:grpSpPr>
        <a:xfrm>
          <a:off x="0" y="0"/>
          <a:ext cx="0" cy="0"/>
          <a:chOff x="0" y="0"/>
          <a:chExt cx="0" cy="0"/>
        </a:xfrm>
      </p:grpSpPr>
      <p:sp>
        <p:nvSpPr>
          <p:cNvPr id="18" name="TextBox 17">
            <a:extLst>
              <a:ext uri="{FF2B5EF4-FFF2-40B4-BE49-F238E27FC236}">
                <a16:creationId xmlns:a16="http://schemas.microsoft.com/office/drawing/2014/main" id="{4A78450C-28DB-92D6-F28B-D2CBF249C339}"/>
              </a:ext>
            </a:extLst>
          </p:cNvPr>
          <p:cNvSpPr txBox="1"/>
          <p:nvPr/>
        </p:nvSpPr>
        <p:spPr>
          <a:xfrm>
            <a:off x="790267" y="781065"/>
            <a:ext cx="7473746" cy="369332"/>
          </a:xfrm>
          <a:prstGeom prst="rect">
            <a:avLst/>
          </a:prstGeom>
          <a:noFill/>
        </p:spPr>
        <p:txBody>
          <a:bodyPr wrap="square">
            <a:spAutoFit/>
          </a:bodyPr>
          <a:lstStyle/>
          <a:p>
            <a:r>
              <a:rPr lang="en-US" b="1" dirty="0">
                <a:solidFill>
                  <a:srgbClr val="2C3E50"/>
                </a:solidFill>
                <a:latin typeface="+mj-lt"/>
              </a:rPr>
              <a:t>5.0 Data Validation, Checking, Cleaning, and Processing_2</a:t>
            </a:r>
          </a:p>
        </p:txBody>
      </p:sp>
      <p:sp>
        <p:nvSpPr>
          <p:cNvPr id="6" name="TextBox 5">
            <a:extLst>
              <a:ext uri="{FF2B5EF4-FFF2-40B4-BE49-F238E27FC236}">
                <a16:creationId xmlns:a16="http://schemas.microsoft.com/office/drawing/2014/main" id="{21FAFE8A-EF96-0B61-6043-17026F0B875E}"/>
              </a:ext>
            </a:extLst>
          </p:cNvPr>
          <p:cNvSpPr txBox="1"/>
          <p:nvPr/>
        </p:nvSpPr>
        <p:spPr>
          <a:xfrm>
            <a:off x="790267" y="1284188"/>
            <a:ext cx="10683978" cy="338554"/>
          </a:xfrm>
          <a:prstGeom prst="rect">
            <a:avLst/>
          </a:prstGeom>
          <a:noFill/>
        </p:spPr>
        <p:txBody>
          <a:bodyPr wrap="square">
            <a:spAutoFit/>
          </a:bodyPr>
          <a:lstStyle/>
          <a:p>
            <a:pPr algn="just">
              <a:spcAft>
                <a:spcPts val="750"/>
              </a:spcAft>
              <a:buNone/>
            </a:pPr>
            <a:r>
              <a:rPr lang="en-US" sz="1600" i="0" dirty="0">
                <a:solidFill>
                  <a:srgbClr val="415462"/>
                </a:solidFill>
                <a:effectLst/>
              </a:rPr>
              <a:t>After collecting all the data, we will proceed with the data validation, checking, cleaning, and processing as outlined below:</a:t>
            </a:r>
          </a:p>
        </p:txBody>
      </p:sp>
      <p:sp>
        <p:nvSpPr>
          <p:cNvPr id="5" name="TextBox 4">
            <a:extLst>
              <a:ext uri="{FF2B5EF4-FFF2-40B4-BE49-F238E27FC236}">
                <a16:creationId xmlns:a16="http://schemas.microsoft.com/office/drawing/2014/main" id="{360129EB-1185-83F3-7CDE-D4EDA444437E}"/>
              </a:ext>
            </a:extLst>
          </p:cNvPr>
          <p:cNvSpPr txBox="1"/>
          <p:nvPr/>
        </p:nvSpPr>
        <p:spPr>
          <a:xfrm>
            <a:off x="790267" y="1833215"/>
            <a:ext cx="10683978" cy="3990836"/>
          </a:xfrm>
          <a:prstGeom prst="rect">
            <a:avLst/>
          </a:prstGeom>
          <a:noFill/>
        </p:spPr>
        <p:txBody>
          <a:bodyPr wrap="square">
            <a:spAutoFit/>
          </a:bodyPr>
          <a:lstStyle>
            <a:defPPr>
              <a:defRPr lang="en-US"/>
            </a:defPPr>
            <a:lvl1pPr algn="just">
              <a:spcAft>
                <a:spcPts val="750"/>
              </a:spcAft>
              <a:buNone/>
              <a:defRPr sz="1600" b="1" i="0">
                <a:solidFill>
                  <a:srgbClr val="415462"/>
                </a:solidFill>
                <a:effectLst/>
              </a:defRPr>
            </a:lvl1pPr>
          </a:lstStyle>
          <a:p>
            <a:r>
              <a:rPr lang="en-US" dirty="0"/>
              <a:t>Help Desk Data – ManageEngine Call Log Data</a:t>
            </a:r>
          </a:p>
          <a:p>
            <a:r>
              <a:rPr lang="en-US" dirty="0"/>
              <a:t>Checking:</a:t>
            </a:r>
          </a:p>
          <a:p>
            <a:pPr marL="285750" indent="-285750">
              <a:buFont typeface="Arial" panose="020B0604020202020204" pitchFamily="34" charset="0"/>
              <a:buChar char="•"/>
            </a:pPr>
            <a:r>
              <a:rPr lang="en-US" b="0" dirty="0"/>
              <a:t>Validate the data period</a:t>
            </a:r>
          </a:p>
          <a:p>
            <a:pPr marL="285750" indent="-285750">
              <a:buFont typeface="Arial" panose="020B0604020202020204" pitchFamily="34" charset="0"/>
              <a:buChar char="•"/>
            </a:pPr>
            <a:r>
              <a:rPr lang="en-US" b="0" dirty="0"/>
              <a:t>Filter data for Gateway exams only</a:t>
            </a:r>
          </a:p>
          <a:p>
            <a:pPr marL="285750" indent="-285750">
              <a:buFont typeface="Arial" panose="020B0604020202020204" pitchFamily="34" charset="0"/>
              <a:buChar char="•"/>
            </a:pPr>
            <a:r>
              <a:rPr lang="en-US" b="0" dirty="0"/>
              <a:t>Include DATC venues only</a:t>
            </a:r>
          </a:p>
          <a:p>
            <a:endParaRPr lang="en-US" sz="1000" b="0" dirty="0"/>
          </a:p>
          <a:p>
            <a:r>
              <a:rPr lang="en-US" dirty="0"/>
              <a:t>Cleaning:</a:t>
            </a:r>
          </a:p>
          <a:p>
            <a:pPr marL="285750" indent="-285750">
              <a:buFont typeface="Arial" panose="020B0604020202020204" pitchFamily="34" charset="0"/>
              <a:buChar char="•"/>
            </a:pPr>
            <a:r>
              <a:rPr lang="en-US" b="0" dirty="0"/>
              <a:t>Standardize and clean DMS codes, project/exam names, exam dates, and all call log remarks and resolution fields</a:t>
            </a:r>
          </a:p>
          <a:p>
            <a:endParaRPr lang="en-US" sz="1000" b="0" dirty="0"/>
          </a:p>
          <a:p>
            <a:r>
              <a:rPr lang="en-US" dirty="0"/>
              <a:t>Processing:</a:t>
            </a:r>
          </a:p>
          <a:p>
            <a:pPr marL="285750" indent="-285750">
              <a:buFont typeface="Arial" panose="020B0604020202020204" pitchFamily="34" charset="0"/>
              <a:buChar char="•"/>
            </a:pPr>
            <a:r>
              <a:rPr lang="en-US" b="0" dirty="0"/>
              <a:t>Analyze remarks and resolutions and create a new categorized column to classify issues as Sensitive or Non-Sensitive</a:t>
            </a:r>
          </a:p>
          <a:p>
            <a:pPr marL="285750" indent="-285750">
              <a:buFont typeface="Arial" panose="020B0604020202020204" pitchFamily="34" charset="0"/>
              <a:buChar char="•"/>
            </a:pPr>
            <a:r>
              <a:rPr lang="en-US" b="0" dirty="0"/>
              <a:t>Create pivot reports to obtain unique records and the frequency of sensitive issues, on an exam-wise basis</a:t>
            </a:r>
          </a:p>
        </p:txBody>
      </p:sp>
    </p:spTree>
    <p:extLst>
      <p:ext uri="{BB962C8B-B14F-4D97-AF65-F5344CB8AC3E}">
        <p14:creationId xmlns:p14="http://schemas.microsoft.com/office/powerpoint/2010/main" val="943729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3055B-E9B8-9A71-9E13-C2D8204AEBB9}"/>
            </a:ext>
          </a:extLst>
        </p:cNvPr>
        <p:cNvGrpSpPr/>
        <p:nvPr/>
      </p:nvGrpSpPr>
      <p:grpSpPr>
        <a:xfrm>
          <a:off x="0" y="0"/>
          <a:ext cx="0" cy="0"/>
          <a:chOff x="0" y="0"/>
          <a:chExt cx="0" cy="0"/>
        </a:xfrm>
      </p:grpSpPr>
      <p:sp>
        <p:nvSpPr>
          <p:cNvPr id="18" name="TextBox 17">
            <a:extLst>
              <a:ext uri="{FF2B5EF4-FFF2-40B4-BE49-F238E27FC236}">
                <a16:creationId xmlns:a16="http://schemas.microsoft.com/office/drawing/2014/main" id="{F7BF24C5-898C-A08F-146E-FB80020CC950}"/>
              </a:ext>
            </a:extLst>
          </p:cNvPr>
          <p:cNvSpPr txBox="1"/>
          <p:nvPr/>
        </p:nvSpPr>
        <p:spPr>
          <a:xfrm>
            <a:off x="790267" y="781065"/>
            <a:ext cx="7473746" cy="369332"/>
          </a:xfrm>
          <a:prstGeom prst="rect">
            <a:avLst/>
          </a:prstGeom>
          <a:noFill/>
        </p:spPr>
        <p:txBody>
          <a:bodyPr wrap="square">
            <a:spAutoFit/>
          </a:bodyPr>
          <a:lstStyle/>
          <a:p>
            <a:r>
              <a:rPr lang="en-US" b="1" dirty="0">
                <a:solidFill>
                  <a:srgbClr val="2C3E50"/>
                </a:solidFill>
                <a:latin typeface="+mj-lt"/>
              </a:rPr>
              <a:t>5.0 Data Validation, Checking, Cleaning, and Processing_3</a:t>
            </a:r>
          </a:p>
        </p:txBody>
      </p:sp>
      <p:sp>
        <p:nvSpPr>
          <p:cNvPr id="6" name="TextBox 5">
            <a:extLst>
              <a:ext uri="{FF2B5EF4-FFF2-40B4-BE49-F238E27FC236}">
                <a16:creationId xmlns:a16="http://schemas.microsoft.com/office/drawing/2014/main" id="{4E6C5F09-FE26-A1CB-A02C-C43EA1D5B8B6}"/>
              </a:ext>
            </a:extLst>
          </p:cNvPr>
          <p:cNvSpPr txBox="1"/>
          <p:nvPr/>
        </p:nvSpPr>
        <p:spPr>
          <a:xfrm>
            <a:off x="790267" y="1284188"/>
            <a:ext cx="10683978" cy="338554"/>
          </a:xfrm>
          <a:prstGeom prst="rect">
            <a:avLst/>
          </a:prstGeom>
          <a:noFill/>
        </p:spPr>
        <p:txBody>
          <a:bodyPr wrap="square">
            <a:spAutoFit/>
          </a:bodyPr>
          <a:lstStyle/>
          <a:p>
            <a:pPr algn="just">
              <a:spcAft>
                <a:spcPts val="750"/>
              </a:spcAft>
              <a:buNone/>
            </a:pPr>
            <a:r>
              <a:rPr lang="en-US" sz="1600" i="0" dirty="0">
                <a:solidFill>
                  <a:srgbClr val="415462"/>
                </a:solidFill>
                <a:effectLst/>
              </a:rPr>
              <a:t>After collecting all the data, we will proceed with the data validation, checking, cleaning, and processing as outlined below:</a:t>
            </a:r>
          </a:p>
        </p:txBody>
      </p:sp>
      <p:sp>
        <p:nvSpPr>
          <p:cNvPr id="5" name="TextBox 4">
            <a:extLst>
              <a:ext uri="{FF2B5EF4-FFF2-40B4-BE49-F238E27FC236}">
                <a16:creationId xmlns:a16="http://schemas.microsoft.com/office/drawing/2014/main" id="{8EB7A350-C9CA-98E3-C383-B99A9CD03F84}"/>
              </a:ext>
            </a:extLst>
          </p:cNvPr>
          <p:cNvSpPr txBox="1"/>
          <p:nvPr/>
        </p:nvSpPr>
        <p:spPr>
          <a:xfrm>
            <a:off x="790267" y="1778783"/>
            <a:ext cx="10683978" cy="2944396"/>
          </a:xfrm>
          <a:prstGeom prst="rect">
            <a:avLst/>
          </a:prstGeom>
          <a:noFill/>
        </p:spPr>
        <p:txBody>
          <a:bodyPr wrap="square">
            <a:spAutoFit/>
          </a:bodyPr>
          <a:lstStyle>
            <a:defPPr>
              <a:defRPr lang="en-US"/>
            </a:defPPr>
            <a:lvl1pPr algn="just">
              <a:spcAft>
                <a:spcPts val="750"/>
              </a:spcAft>
              <a:buNone/>
              <a:defRPr sz="1600" b="1" i="0">
                <a:solidFill>
                  <a:srgbClr val="415462"/>
                </a:solidFill>
                <a:effectLst/>
              </a:defRPr>
            </a:lvl1pPr>
          </a:lstStyle>
          <a:p>
            <a:r>
              <a:rPr lang="en-US" dirty="0"/>
              <a:t>Result Team – FFA Data</a:t>
            </a:r>
          </a:p>
          <a:p>
            <a:r>
              <a:rPr lang="en-US" dirty="0"/>
              <a:t>Checking:</a:t>
            </a:r>
          </a:p>
          <a:p>
            <a:r>
              <a:rPr lang="en-US" b="0" dirty="0"/>
              <a:t>Validate the data period</a:t>
            </a:r>
          </a:p>
          <a:p>
            <a:endParaRPr lang="en-US" sz="1000" dirty="0"/>
          </a:p>
          <a:p>
            <a:r>
              <a:rPr lang="en-US" dirty="0"/>
              <a:t>Cleaning:</a:t>
            </a:r>
          </a:p>
          <a:p>
            <a:r>
              <a:rPr lang="en-US" b="0" dirty="0"/>
              <a:t>Standardize project/exam names, exam dates, and DMS codes</a:t>
            </a:r>
          </a:p>
          <a:p>
            <a:endParaRPr lang="en-US" sz="1000" b="0" dirty="0"/>
          </a:p>
          <a:p>
            <a:r>
              <a:rPr lang="en-US" dirty="0"/>
              <a:t>Processing:</a:t>
            </a:r>
          </a:p>
          <a:p>
            <a:r>
              <a:rPr lang="en-US" b="0" dirty="0"/>
              <a:t>Prepare cleaned data for integration with other datasets</a:t>
            </a:r>
          </a:p>
        </p:txBody>
      </p:sp>
    </p:spTree>
    <p:extLst>
      <p:ext uri="{BB962C8B-B14F-4D97-AF65-F5344CB8AC3E}">
        <p14:creationId xmlns:p14="http://schemas.microsoft.com/office/powerpoint/2010/main" val="33486353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99E51-B099-3563-120A-66CEAED80CF7}"/>
            </a:ext>
          </a:extLst>
        </p:cNvPr>
        <p:cNvGrpSpPr/>
        <p:nvPr/>
      </p:nvGrpSpPr>
      <p:grpSpPr>
        <a:xfrm>
          <a:off x="0" y="0"/>
          <a:ext cx="0" cy="0"/>
          <a:chOff x="0" y="0"/>
          <a:chExt cx="0" cy="0"/>
        </a:xfrm>
      </p:grpSpPr>
      <p:sp>
        <p:nvSpPr>
          <p:cNvPr id="18" name="TextBox 17">
            <a:extLst>
              <a:ext uri="{FF2B5EF4-FFF2-40B4-BE49-F238E27FC236}">
                <a16:creationId xmlns:a16="http://schemas.microsoft.com/office/drawing/2014/main" id="{DA167FA3-2ACF-A1AD-62E3-D85E7581C548}"/>
              </a:ext>
            </a:extLst>
          </p:cNvPr>
          <p:cNvSpPr txBox="1"/>
          <p:nvPr/>
        </p:nvSpPr>
        <p:spPr>
          <a:xfrm>
            <a:off x="790267" y="781065"/>
            <a:ext cx="7473746" cy="369332"/>
          </a:xfrm>
          <a:prstGeom prst="rect">
            <a:avLst/>
          </a:prstGeom>
          <a:noFill/>
        </p:spPr>
        <p:txBody>
          <a:bodyPr wrap="square">
            <a:spAutoFit/>
          </a:bodyPr>
          <a:lstStyle/>
          <a:p>
            <a:r>
              <a:rPr lang="en-US" b="1" dirty="0">
                <a:solidFill>
                  <a:srgbClr val="2C3E50"/>
                </a:solidFill>
                <a:latin typeface="+mj-lt"/>
              </a:rPr>
              <a:t>5.0 Data Validation, Checking, Cleaning, and Processing_4</a:t>
            </a:r>
          </a:p>
        </p:txBody>
      </p:sp>
      <p:sp>
        <p:nvSpPr>
          <p:cNvPr id="6" name="TextBox 5">
            <a:extLst>
              <a:ext uri="{FF2B5EF4-FFF2-40B4-BE49-F238E27FC236}">
                <a16:creationId xmlns:a16="http://schemas.microsoft.com/office/drawing/2014/main" id="{8ADC62AF-58D5-85BE-FFE6-F042198E5880}"/>
              </a:ext>
            </a:extLst>
          </p:cNvPr>
          <p:cNvSpPr txBox="1"/>
          <p:nvPr/>
        </p:nvSpPr>
        <p:spPr>
          <a:xfrm>
            <a:off x="790267" y="1284188"/>
            <a:ext cx="10683978" cy="338554"/>
          </a:xfrm>
          <a:prstGeom prst="rect">
            <a:avLst/>
          </a:prstGeom>
          <a:noFill/>
        </p:spPr>
        <p:txBody>
          <a:bodyPr wrap="square">
            <a:spAutoFit/>
          </a:bodyPr>
          <a:lstStyle/>
          <a:p>
            <a:pPr algn="just">
              <a:spcAft>
                <a:spcPts val="750"/>
              </a:spcAft>
              <a:buNone/>
            </a:pPr>
            <a:r>
              <a:rPr lang="en-US" sz="1600" i="0" dirty="0">
                <a:solidFill>
                  <a:srgbClr val="415462"/>
                </a:solidFill>
                <a:effectLst/>
              </a:rPr>
              <a:t>After collecting all the data, we will proceed with the data validation, checking, cleaning, and processing as outlined below:</a:t>
            </a:r>
          </a:p>
        </p:txBody>
      </p:sp>
      <p:sp>
        <p:nvSpPr>
          <p:cNvPr id="2" name="TextBox 1">
            <a:extLst>
              <a:ext uri="{FF2B5EF4-FFF2-40B4-BE49-F238E27FC236}">
                <a16:creationId xmlns:a16="http://schemas.microsoft.com/office/drawing/2014/main" id="{7743CCFC-783C-1DCE-5FAB-C94DF6D99C53}"/>
              </a:ext>
            </a:extLst>
          </p:cNvPr>
          <p:cNvSpPr txBox="1"/>
          <p:nvPr/>
        </p:nvSpPr>
        <p:spPr>
          <a:xfrm>
            <a:off x="790267" y="1876755"/>
            <a:ext cx="10683978" cy="3539430"/>
          </a:xfrm>
          <a:prstGeom prst="rect">
            <a:avLst/>
          </a:prstGeom>
          <a:noFill/>
        </p:spPr>
        <p:txBody>
          <a:bodyPr wrap="square">
            <a:spAutoFit/>
          </a:bodyPr>
          <a:lstStyle>
            <a:defPPr>
              <a:defRPr lang="en-US"/>
            </a:defPPr>
            <a:lvl1pPr algn="just">
              <a:spcAft>
                <a:spcPts val="750"/>
              </a:spcAft>
              <a:buNone/>
              <a:defRPr sz="1600" b="1" i="0">
                <a:solidFill>
                  <a:srgbClr val="415462"/>
                </a:solidFill>
                <a:effectLst/>
              </a:defRPr>
            </a:lvl1pPr>
          </a:lstStyle>
          <a:p>
            <a:r>
              <a:rPr lang="en-US" dirty="0"/>
              <a:t>Quality Team – Timely Delivery Data</a:t>
            </a:r>
          </a:p>
          <a:p>
            <a:r>
              <a:rPr lang="en-US" dirty="0"/>
              <a:t>Checking:</a:t>
            </a:r>
          </a:p>
          <a:p>
            <a:r>
              <a:rPr lang="en-US" b="0" dirty="0"/>
              <a:t>Validate the data period</a:t>
            </a:r>
          </a:p>
          <a:p>
            <a:endParaRPr lang="en-US" sz="1000" b="0" dirty="0"/>
          </a:p>
          <a:p>
            <a:r>
              <a:rPr lang="en-US" dirty="0"/>
              <a:t>Cleaning:</a:t>
            </a:r>
          </a:p>
          <a:p>
            <a:r>
              <a:rPr lang="en-US" b="0" dirty="0"/>
              <a:t>Correct and standardize DMS codes, project/exam names, exam dates, exam slots, exam start times, and verify whether the exam actually started on time</a:t>
            </a:r>
          </a:p>
          <a:p>
            <a:endParaRPr lang="en-US" sz="1000" b="0" dirty="0"/>
          </a:p>
          <a:p>
            <a:r>
              <a:rPr lang="en-US" dirty="0"/>
              <a:t>Processing:</a:t>
            </a:r>
          </a:p>
          <a:p>
            <a:r>
              <a:rPr lang="en-US" b="0" dirty="0"/>
              <a:t>Add a calculated column to compute candidate-wise delay (in minutes) for exam start</a:t>
            </a:r>
          </a:p>
          <a:p>
            <a:r>
              <a:rPr lang="en-US" b="0" dirty="0"/>
              <a:t>Create pivot reports to derive exam-wise total candidate count, average delay time, and delayed candidate count</a:t>
            </a:r>
          </a:p>
        </p:txBody>
      </p:sp>
    </p:spTree>
    <p:extLst>
      <p:ext uri="{BB962C8B-B14F-4D97-AF65-F5344CB8AC3E}">
        <p14:creationId xmlns:p14="http://schemas.microsoft.com/office/powerpoint/2010/main" val="7748804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18708-F766-11BE-8527-F4DC518F8A61}"/>
            </a:ext>
          </a:extLst>
        </p:cNvPr>
        <p:cNvGrpSpPr/>
        <p:nvPr/>
      </p:nvGrpSpPr>
      <p:grpSpPr>
        <a:xfrm>
          <a:off x="0" y="0"/>
          <a:ext cx="0" cy="0"/>
          <a:chOff x="0" y="0"/>
          <a:chExt cx="0" cy="0"/>
        </a:xfrm>
      </p:grpSpPr>
      <p:sp>
        <p:nvSpPr>
          <p:cNvPr id="18" name="TextBox 17">
            <a:extLst>
              <a:ext uri="{FF2B5EF4-FFF2-40B4-BE49-F238E27FC236}">
                <a16:creationId xmlns:a16="http://schemas.microsoft.com/office/drawing/2014/main" id="{6CC79C02-9BA5-E341-01E6-C45AC06AEEC0}"/>
              </a:ext>
            </a:extLst>
          </p:cNvPr>
          <p:cNvSpPr txBox="1"/>
          <p:nvPr/>
        </p:nvSpPr>
        <p:spPr>
          <a:xfrm>
            <a:off x="790267" y="781065"/>
            <a:ext cx="7473746" cy="369332"/>
          </a:xfrm>
          <a:prstGeom prst="rect">
            <a:avLst/>
          </a:prstGeom>
          <a:noFill/>
        </p:spPr>
        <p:txBody>
          <a:bodyPr wrap="square">
            <a:spAutoFit/>
          </a:bodyPr>
          <a:lstStyle/>
          <a:p>
            <a:r>
              <a:rPr lang="en-US" b="1" dirty="0">
                <a:solidFill>
                  <a:srgbClr val="2C3E50"/>
                </a:solidFill>
                <a:latin typeface="+mj-lt"/>
              </a:rPr>
              <a:t>5.0 Data Validation, Checking, Cleaning, and Processing_5</a:t>
            </a:r>
          </a:p>
        </p:txBody>
      </p:sp>
      <p:sp>
        <p:nvSpPr>
          <p:cNvPr id="6" name="TextBox 5">
            <a:extLst>
              <a:ext uri="{FF2B5EF4-FFF2-40B4-BE49-F238E27FC236}">
                <a16:creationId xmlns:a16="http://schemas.microsoft.com/office/drawing/2014/main" id="{8FF038F3-721C-494F-ACC7-B4EC41C43AB5}"/>
              </a:ext>
            </a:extLst>
          </p:cNvPr>
          <p:cNvSpPr txBox="1"/>
          <p:nvPr/>
        </p:nvSpPr>
        <p:spPr>
          <a:xfrm>
            <a:off x="790267" y="1284188"/>
            <a:ext cx="10683978" cy="338554"/>
          </a:xfrm>
          <a:prstGeom prst="rect">
            <a:avLst/>
          </a:prstGeom>
          <a:noFill/>
        </p:spPr>
        <p:txBody>
          <a:bodyPr wrap="square">
            <a:spAutoFit/>
          </a:bodyPr>
          <a:lstStyle/>
          <a:p>
            <a:pPr algn="just">
              <a:spcAft>
                <a:spcPts val="750"/>
              </a:spcAft>
              <a:buNone/>
            </a:pPr>
            <a:r>
              <a:rPr lang="en-US" sz="1600" i="0" dirty="0">
                <a:solidFill>
                  <a:srgbClr val="415462"/>
                </a:solidFill>
                <a:effectLst/>
              </a:rPr>
              <a:t>After collecting all the data, we will proceed with the data validation, checking, cleaning, and processing as outlined below:</a:t>
            </a:r>
          </a:p>
        </p:txBody>
      </p:sp>
      <p:sp>
        <p:nvSpPr>
          <p:cNvPr id="2" name="TextBox 1">
            <a:extLst>
              <a:ext uri="{FF2B5EF4-FFF2-40B4-BE49-F238E27FC236}">
                <a16:creationId xmlns:a16="http://schemas.microsoft.com/office/drawing/2014/main" id="{6D9E9650-3F90-0611-2DD7-C37D1AD4DA6C}"/>
              </a:ext>
            </a:extLst>
          </p:cNvPr>
          <p:cNvSpPr txBox="1"/>
          <p:nvPr/>
        </p:nvSpPr>
        <p:spPr>
          <a:xfrm>
            <a:off x="790267" y="1876755"/>
            <a:ext cx="10683978" cy="2944396"/>
          </a:xfrm>
          <a:prstGeom prst="rect">
            <a:avLst/>
          </a:prstGeom>
          <a:noFill/>
        </p:spPr>
        <p:txBody>
          <a:bodyPr wrap="square">
            <a:spAutoFit/>
          </a:bodyPr>
          <a:lstStyle>
            <a:defPPr>
              <a:defRPr lang="en-US"/>
            </a:defPPr>
            <a:lvl1pPr algn="just">
              <a:spcAft>
                <a:spcPts val="750"/>
              </a:spcAft>
              <a:buNone/>
              <a:defRPr sz="1600" b="1" i="0">
                <a:solidFill>
                  <a:srgbClr val="415462"/>
                </a:solidFill>
                <a:effectLst/>
              </a:defRPr>
            </a:lvl1pPr>
          </a:lstStyle>
          <a:p>
            <a:r>
              <a:rPr lang="en-US" dirty="0"/>
              <a:t>Operations Team – Day-End Observations</a:t>
            </a:r>
            <a:r>
              <a:rPr lang="en-US" b="0" dirty="0"/>
              <a:t> </a:t>
            </a:r>
            <a:r>
              <a:rPr lang="en-US" dirty="0"/>
              <a:t>Data</a:t>
            </a:r>
          </a:p>
          <a:p>
            <a:r>
              <a:rPr lang="en-US" dirty="0"/>
              <a:t>Checking:</a:t>
            </a:r>
          </a:p>
          <a:p>
            <a:r>
              <a:rPr lang="en-US" b="0" dirty="0"/>
              <a:t>Validate the data period</a:t>
            </a:r>
          </a:p>
          <a:p>
            <a:endParaRPr lang="en-US" sz="1000" b="0" dirty="0"/>
          </a:p>
          <a:p>
            <a:r>
              <a:rPr lang="en-US" dirty="0"/>
              <a:t>Cleaning:</a:t>
            </a:r>
          </a:p>
          <a:p>
            <a:r>
              <a:rPr lang="en-US" b="0" dirty="0"/>
              <a:t>Standardize DMS codes, project/exam names, exam dates, and suspicious activity descriptions</a:t>
            </a:r>
          </a:p>
          <a:p>
            <a:endParaRPr lang="en-US" sz="1000" b="0" dirty="0"/>
          </a:p>
          <a:p>
            <a:r>
              <a:rPr lang="en-US" dirty="0"/>
              <a:t>Processing:</a:t>
            </a:r>
          </a:p>
          <a:p>
            <a:r>
              <a:rPr lang="en-US" b="0" dirty="0"/>
              <a:t>Identify venues with suspicious activities along with date and exam details</a:t>
            </a:r>
          </a:p>
        </p:txBody>
      </p:sp>
    </p:spTree>
    <p:extLst>
      <p:ext uri="{BB962C8B-B14F-4D97-AF65-F5344CB8AC3E}">
        <p14:creationId xmlns:p14="http://schemas.microsoft.com/office/powerpoint/2010/main" val="12246304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2C277-AB51-D913-7842-92A07118F38A}"/>
            </a:ext>
          </a:extLst>
        </p:cNvPr>
        <p:cNvGrpSpPr/>
        <p:nvPr/>
      </p:nvGrpSpPr>
      <p:grpSpPr>
        <a:xfrm>
          <a:off x="0" y="0"/>
          <a:ext cx="0" cy="0"/>
          <a:chOff x="0" y="0"/>
          <a:chExt cx="0" cy="0"/>
        </a:xfrm>
      </p:grpSpPr>
      <p:sp>
        <p:nvSpPr>
          <p:cNvPr id="18" name="TextBox 17">
            <a:extLst>
              <a:ext uri="{FF2B5EF4-FFF2-40B4-BE49-F238E27FC236}">
                <a16:creationId xmlns:a16="http://schemas.microsoft.com/office/drawing/2014/main" id="{51886DE5-6EFD-0D28-3A67-A9F3915EBC08}"/>
              </a:ext>
            </a:extLst>
          </p:cNvPr>
          <p:cNvSpPr txBox="1"/>
          <p:nvPr/>
        </p:nvSpPr>
        <p:spPr>
          <a:xfrm>
            <a:off x="790267" y="781065"/>
            <a:ext cx="7473746" cy="369332"/>
          </a:xfrm>
          <a:prstGeom prst="rect">
            <a:avLst/>
          </a:prstGeom>
          <a:noFill/>
        </p:spPr>
        <p:txBody>
          <a:bodyPr wrap="square">
            <a:spAutoFit/>
          </a:bodyPr>
          <a:lstStyle/>
          <a:p>
            <a:r>
              <a:rPr lang="en-US" b="1" dirty="0">
                <a:solidFill>
                  <a:srgbClr val="2C3E50"/>
                </a:solidFill>
                <a:latin typeface="+mj-lt"/>
              </a:rPr>
              <a:t>5.0 Data Validation, Checking, Cleaning, and Processing_6</a:t>
            </a:r>
          </a:p>
        </p:txBody>
      </p:sp>
      <p:sp>
        <p:nvSpPr>
          <p:cNvPr id="6" name="TextBox 5">
            <a:extLst>
              <a:ext uri="{FF2B5EF4-FFF2-40B4-BE49-F238E27FC236}">
                <a16:creationId xmlns:a16="http://schemas.microsoft.com/office/drawing/2014/main" id="{40EF1D5C-41D0-F522-CC6E-B9E2461C7D07}"/>
              </a:ext>
            </a:extLst>
          </p:cNvPr>
          <p:cNvSpPr txBox="1"/>
          <p:nvPr/>
        </p:nvSpPr>
        <p:spPr>
          <a:xfrm>
            <a:off x="790267" y="1284188"/>
            <a:ext cx="10683978" cy="338554"/>
          </a:xfrm>
          <a:prstGeom prst="rect">
            <a:avLst/>
          </a:prstGeom>
          <a:noFill/>
        </p:spPr>
        <p:txBody>
          <a:bodyPr wrap="square">
            <a:spAutoFit/>
          </a:bodyPr>
          <a:lstStyle/>
          <a:p>
            <a:pPr algn="just">
              <a:spcAft>
                <a:spcPts val="750"/>
              </a:spcAft>
              <a:buNone/>
            </a:pPr>
            <a:r>
              <a:rPr lang="en-US" sz="1600" i="0" dirty="0">
                <a:solidFill>
                  <a:srgbClr val="415462"/>
                </a:solidFill>
                <a:effectLst/>
              </a:rPr>
              <a:t>After collecting all the data, we will proceed with the data validation, checking, cleaning, and processing as outlined below:</a:t>
            </a:r>
          </a:p>
        </p:txBody>
      </p:sp>
      <p:sp>
        <p:nvSpPr>
          <p:cNvPr id="2" name="TextBox 1">
            <a:extLst>
              <a:ext uri="{FF2B5EF4-FFF2-40B4-BE49-F238E27FC236}">
                <a16:creationId xmlns:a16="http://schemas.microsoft.com/office/drawing/2014/main" id="{03995982-B678-1EE0-B083-1D93183E658C}"/>
              </a:ext>
            </a:extLst>
          </p:cNvPr>
          <p:cNvSpPr txBox="1"/>
          <p:nvPr/>
        </p:nvSpPr>
        <p:spPr>
          <a:xfrm>
            <a:off x="790267" y="1876755"/>
            <a:ext cx="10683978" cy="2472472"/>
          </a:xfrm>
          <a:prstGeom prst="rect">
            <a:avLst/>
          </a:prstGeom>
          <a:noFill/>
        </p:spPr>
        <p:txBody>
          <a:bodyPr wrap="square">
            <a:spAutoFit/>
          </a:bodyPr>
          <a:lstStyle>
            <a:defPPr>
              <a:defRPr lang="en-US"/>
            </a:defPPr>
            <a:lvl1pPr algn="just">
              <a:spcAft>
                <a:spcPts val="750"/>
              </a:spcAft>
              <a:buNone/>
              <a:defRPr sz="1600" b="1" i="0">
                <a:solidFill>
                  <a:srgbClr val="415462"/>
                </a:solidFill>
                <a:effectLst/>
              </a:defRPr>
            </a:lvl1pPr>
          </a:lstStyle>
          <a:p>
            <a:r>
              <a:rPr lang="en-US" dirty="0"/>
              <a:t>Data Integration and Final Processing</a:t>
            </a:r>
          </a:p>
          <a:p>
            <a:r>
              <a:rPr lang="en-US" b="0" dirty="0"/>
              <a:t>After completing the data cleaning process, we take the Channel Team’s venue master data as the base dataset.</a:t>
            </a:r>
          </a:p>
          <a:p>
            <a:pPr marL="285750" indent="-285750">
              <a:buFont typeface="Arial" panose="020B0604020202020204" pitchFamily="34" charset="0"/>
              <a:buChar char="•"/>
            </a:pPr>
            <a:r>
              <a:rPr lang="en-US" b="0" dirty="0"/>
              <a:t>Using the DMS code as the primary key, we add all observations from the other cleaned datasets (Help Desk, Result Team, Quality Team, Operations Team) into separate columns in the base dataset.</a:t>
            </a:r>
          </a:p>
          <a:p>
            <a:pPr marL="285750" indent="-285750">
              <a:buFont typeface="Arial" panose="020B0604020202020204" pitchFamily="34" charset="0"/>
              <a:buChar char="•"/>
            </a:pPr>
            <a:r>
              <a:rPr lang="en-US" b="0" dirty="0"/>
              <a:t>Additionally, we analyze Google ratings and reviews to understand the market perception and rating of the respective venue.</a:t>
            </a:r>
          </a:p>
          <a:p>
            <a:pPr marL="285750" indent="-285750">
              <a:buFont typeface="Arial" panose="020B0604020202020204" pitchFamily="34" charset="0"/>
              <a:buChar char="•"/>
            </a:pPr>
            <a:r>
              <a:rPr lang="en-US" b="0" dirty="0"/>
              <a:t>This ensures that all cleaned and validated information from multiple sources is consolidated in a single, comprehensive dataset for further analysis.</a:t>
            </a:r>
          </a:p>
        </p:txBody>
      </p:sp>
    </p:spTree>
    <p:extLst>
      <p:ext uri="{BB962C8B-B14F-4D97-AF65-F5344CB8AC3E}">
        <p14:creationId xmlns:p14="http://schemas.microsoft.com/office/powerpoint/2010/main" val="17925635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C0997-1B8B-1719-5735-162DF1E6C01A}"/>
            </a:ext>
          </a:extLst>
        </p:cNvPr>
        <p:cNvGrpSpPr/>
        <p:nvPr/>
      </p:nvGrpSpPr>
      <p:grpSpPr>
        <a:xfrm>
          <a:off x="0" y="0"/>
          <a:ext cx="0" cy="0"/>
          <a:chOff x="0" y="0"/>
          <a:chExt cx="0" cy="0"/>
        </a:xfrm>
      </p:grpSpPr>
      <p:sp>
        <p:nvSpPr>
          <p:cNvPr id="18" name="TextBox 17">
            <a:extLst>
              <a:ext uri="{FF2B5EF4-FFF2-40B4-BE49-F238E27FC236}">
                <a16:creationId xmlns:a16="http://schemas.microsoft.com/office/drawing/2014/main" id="{3BA8E64D-DD3F-F662-89DB-57315E20A455}"/>
              </a:ext>
            </a:extLst>
          </p:cNvPr>
          <p:cNvSpPr txBox="1"/>
          <p:nvPr/>
        </p:nvSpPr>
        <p:spPr>
          <a:xfrm>
            <a:off x="790267" y="781065"/>
            <a:ext cx="7473746" cy="369332"/>
          </a:xfrm>
          <a:prstGeom prst="rect">
            <a:avLst/>
          </a:prstGeom>
          <a:noFill/>
        </p:spPr>
        <p:txBody>
          <a:bodyPr wrap="square">
            <a:spAutoFit/>
          </a:bodyPr>
          <a:lstStyle/>
          <a:p>
            <a:r>
              <a:rPr lang="en-US" b="1" dirty="0">
                <a:solidFill>
                  <a:srgbClr val="2C3E50"/>
                </a:solidFill>
                <a:latin typeface="+mj-lt"/>
              </a:rPr>
              <a:t>6.0 Evaluation Parameters and Categorization</a:t>
            </a:r>
          </a:p>
        </p:txBody>
      </p:sp>
      <p:sp>
        <p:nvSpPr>
          <p:cNvPr id="6" name="TextBox 5">
            <a:extLst>
              <a:ext uri="{FF2B5EF4-FFF2-40B4-BE49-F238E27FC236}">
                <a16:creationId xmlns:a16="http://schemas.microsoft.com/office/drawing/2014/main" id="{02A65116-4D6B-D04F-82EB-80A3F076B0ED}"/>
              </a:ext>
            </a:extLst>
          </p:cNvPr>
          <p:cNvSpPr txBox="1"/>
          <p:nvPr/>
        </p:nvSpPr>
        <p:spPr>
          <a:xfrm>
            <a:off x="790267" y="1349504"/>
            <a:ext cx="10683978" cy="2082621"/>
          </a:xfrm>
          <a:prstGeom prst="rect">
            <a:avLst/>
          </a:prstGeom>
          <a:noFill/>
        </p:spPr>
        <p:txBody>
          <a:bodyPr wrap="square">
            <a:spAutoFit/>
          </a:bodyPr>
          <a:lstStyle/>
          <a:p>
            <a:pPr algn="just">
              <a:spcAft>
                <a:spcPts val="750"/>
              </a:spcAft>
              <a:buNone/>
            </a:pPr>
            <a:r>
              <a:rPr lang="en-US" sz="1600" b="1" i="0" dirty="0">
                <a:solidFill>
                  <a:srgbClr val="415462"/>
                </a:solidFill>
                <a:effectLst/>
              </a:rPr>
              <a:t>Evaluation Parameters:</a:t>
            </a:r>
          </a:p>
          <a:p>
            <a:pPr algn="just">
              <a:spcAft>
                <a:spcPts val="750"/>
              </a:spcAft>
              <a:buNone/>
            </a:pPr>
            <a:r>
              <a:rPr lang="en-US" sz="1600" i="0" dirty="0">
                <a:solidFill>
                  <a:srgbClr val="415462"/>
                </a:solidFill>
                <a:effectLst/>
              </a:rPr>
              <a:t>Venues have been evaluated and categorized on the below given parameters:</a:t>
            </a:r>
          </a:p>
          <a:p>
            <a:pPr marL="285750" indent="-285750" algn="just">
              <a:spcAft>
                <a:spcPts val="750"/>
              </a:spcAft>
              <a:buFont typeface="Arial" panose="020B0604020202020204" pitchFamily="34" charset="0"/>
              <a:buChar char="•"/>
            </a:pPr>
            <a:r>
              <a:rPr lang="en-US" sz="1600" i="0" dirty="0">
                <a:solidFill>
                  <a:srgbClr val="415462"/>
                </a:solidFill>
                <a:effectLst/>
              </a:rPr>
              <a:t>List of Blacklisted, Customer Specific Blacklisted &amp; Sensitive venues available</a:t>
            </a:r>
          </a:p>
          <a:p>
            <a:pPr marL="285750" indent="-285750" algn="just">
              <a:spcAft>
                <a:spcPts val="750"/>
              </a:spcAft>
              <a:buFont typeface="Arial" panose="020B0604020202020204" pitchFamily="34" charset="0"/>
              <a:buChar char="•"/>
            </a:pPr>
            <a:r>
              <a:rPr lang="en-US" sz="1600" i="0" dirty="0">
                <a:solidFill>
                  <a:srgbClr val="415462"/>
                </a:solidFill>
                <a:effectLst/>
              </a:rPr>
              <a:t>FFA/Anomalies</a:t>
            </a:r>
          </a:p>
          <a:p>
            <a:pPr marL="285750" indent="-285750" algn="just">
              <a:spcAft>
                <a:spcPts val="750"/>
              </a:spcAft>
              <a:buFont typeface="Arial" panose="020B0604020202020204" pitchFamily="34" charset="0"/>
              <a:buChar char="•"/>
            </a:pPr>
            <a:r>
              <a:rPr lang="en-US" sz="1600" i="0" dirty="0">
                <a:solidFill>
                  <a:srgbClr val="415462"/>
                </a:solidFill>
                <a:effectLst/>
              </a:rPr>
              <a:t>Manage engine &amp; Day-end observations</a:t>
            </a:r>
          </a:p>
          <a:p>
            <a:pPr marL="285750" indent="-285750" algn="just">
              <a:spcAft>
                <a:spcPts val="750"/>
              </a:spcAft>
              <a:buFont typeface="Arial" panose="020B0604020202020204" pitchFamily="34" charset="0"/>
              <a:buChar char="•"/>
            </a:pPr>
            <a:r>
              <a:rPr lang="en-US" sz="1600" i="0" dirty="0">
                <a:solidFill>
                  <a:srgbClr val="415462"/>
                </a:solidFill>
                <a:effectLst/>
              </a:rPr>
              <a:t>Market Survey (Google ratings and reviews)</a:t>
            </a:r>
          </a:p>
        </p:txBody>
      </p:sp>
      <p:sp>
        <p:nvSpPr>
          <p:cNvPr id="2" name="TextBox 1">
            <a:extLst>
              <a:ext uri="{FF2B5EF4-FFF2-40B4-BE49-F238E27FC236}">
                <a16:creationId xmlns:a16="http://schemas.microsoft.com/office/drawing/2014/main" id="{01135D11-B577-90EF-FD02-2651D82EC667}"/>
              </a:ext>
            </a:extLst>
          </p:cNvPr>
          <p:cNvSpPr txBox="1"/>
          <p:nvPr/>
        </p:nvSpPr>
        <p:spPr>
          <a:xfrm>
            <a:off x="790268" y="3885866"/>
            <a:ext cx="10683978" cy="2082621"/>
          </a:xfrm>
          <a:prstGeom prst="rect">
            <a:avLst/>
          </a:prstGeom>
          <a:noFill/>
        </p:spPr>
        <p:txBody>
          <a:bodyPr wrap="square">
            <a:spAutoFit/>
          </a:bodyPr>
          <a:lstStyle/>
          <a:p>
            <a:pPr algn="just">
              <a:spcAft>
                <a:spcPts val="750"/>
              </a:spcAft>
              <a:buNone/>
            </a:pPr>
            <a:r>
              <a:rPr lang="en-US" sz="1600" b="1" i="0" dirty="0">
                <a:solidFill>
                  <a:srgbClr val="415462"/>
                </a:solidFill>
                <a:effectLst/>
              </a:rPr>
              <a:t>Categorization:</a:t>
            </a:r>
          </a:p>
          <a:p>
            <a:pPr algn="just">
              <a:spcAft>
                <a:spcPts val="750"/>
              </a:spcAft>
              <a:buNone/>
            </a:pPr>
            <a:r>
              <a:rPr lang="en-US" sz="1600" i="0" dirty="0">
                <a:solidFill>
                  <a:srgbClr val="415462"/>
                </a:solidFill>
                <a:effectLst/>
              </a:rPr>
              <a:t>Venues have been evaluated and categorized on the below given parameters:</a:t>
            </a:r>
          </a:p>
          <a:p>
            <a:pPr marL="285750" indent="-285750" algn="just">
              <a:spcAft>
                <a:spcPts val="750"/>
              </a:spcAft>
              <a:buFont typeface="Arial" panose="020B0604020202020204" pitchFamily="34" charset="0"/>
              <a:buChar char="•"/>
            </a:pPr>
            <a:r>
              <a:rPr lang="en-US" sz="1600" i="0" dirty="0">
                <a:solidFill>
                  <a:srgbClr val="415462"/>
                </a:solidFill>
                <a:effectLst/>
              </a:rPr>
              <a:t>Blacklisted (As per the data available)</a:t>
            </a:r>
          </a:p>
          <a:p>
            <a:pPr marL="285750" indent="-285750" algn="just">
              <a:spcAft>
                <a:spcPts val="750"/>
              </a:spcAft>
              <a:buFont typeface="Arial" panose="020B0604020202020204" pitchFamily="34" charset="0"/>
              <a:buChar char="•"/>
            </a:pPr>
            <a:r>
              <a:rPr lang="en-US" sz="1600" i="0" dirty="0">
                <a:solidFill>
                  <a:srgbClr val="415462"/>
                </a:solidFill>
                <a:effectLst/>
              </a:rPr>
              <a:t>Sensitive (FFA findings /Day-end observations/Customer Specific Blacklisted)</a:t>
            </a:r>
          </a:p>
          <a:p>
            <a:pPr marL="285750" indent="-285750" algn="just">
              <a:spcAft>
                <a:spcPts val="750"/>
              </a:spcAft>
              <a:buFont typeface="Arial" panose="020B0604020202020204" pitchFamily="34" charset="0"/>
              <a:buChar char="•"/>
            </a:pPr>
            <a:r>
              <a:rPr lang="en-US" sz="1600" i="0" dirty="0">
                <a:solidFill>
                  <a:srgbClr val="415462"/>
                </a:solidFill>
                <a:effectLst/>
              </a:rPr>
              <a:t>Average ( Manage engine /Feedbacks/Google ratings)</a:t>
            </a:r>
          </a:p>
          <a:p>
            <a:pPr marL="285750" indent="-285750" algn="just">
              <a:spcAft>
                <a:spcPts val="750"/>
              </a:spcAft>
              <a:buFont typeface="Arial" panose="020B0604020202020204" pitchFamily="34" charset="0"/>
              <a:buChar char="•"/>
            </a:pPr>
            <a:r>
              <a:rPr lang="en-US" sz="1600" i="0" dirty="0">
                <a:solidFill>
                  <a:srgbClr val="415462"/>
                </a:solidFill>
                <a:effectLst/>
              </a:rPr>
              <a:t>Good (None of the above)</a:t>
            </a:r>
          </a:p>
        </p:txBody>
      </p:sp>
    </p:spTree>
    <p:extLst>
      <p:ext uri="{BB962C8B-B14F-4D97-AF65-F5344CB8AC3E}">
        <p14:creationId xmlns:p14="http://schemas.microsoft.com/office/powerpoint/2010/main" val="21680414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C1DE6-1311-3CD3-6146-15F60538A96F}"/>
            </a:ext>
          </a:extLst>
        </p:cNvPr>
        <p:cNvGrpSpPr/>
        <p:nvPr/>
      </p:nvGrpSpPr>
      <p:grpSpPr>
        <a:xfrm>
          <a:off x="0" y="0"/>
          <a:ext cx="0" cy="0"/>
          <a:chOff x="0" y="0"/>
          <a:chExt cx="0" cy="0"/>
        </a:xfrm>
      </p:grpSpPr>
      <p:sp>
        <p:nvSpPr>
          <p:cNvPr id="18" name="TextBox 17">
            <a:extLst>
              <a:ext uri="{FF2B5EF4-FFF2-40B4-BE49-F238E27FC236}">
                <a16:creationId xmlns:a16="http://schemas.microsoft.com/office/drawing/2014/main" id="{EE4397AF-94F0-5856-99A2-42F70385804B}"/>
              </a:ext>
            </a:extLst>
          </p:cNvPr>
          <p:cNvSpPr txBox="1"/>
          <p:nvPr/>
        </p:nvSpPr>
        <p:spPr>
          <a:xfrm>
            <a:off x="790267" y="781065"/>
            <a:ext cx="7473746" cy="369332"/>
          </a:xfrm>
          <a:prstGeom prst="rect">
            <a:avLst/>
          </a:prstGeom>
          <a:noFill/>
        </p:spPr>
        <p:txBody>
          <a:bodyPr wrap="square">
            <a:spAutoFit/>
          </a:bodyPr>
          <a:lstStyle/>
          <a:p>
            <a:r>
              <a:rPr lang="en-US" b="1" dirty="0">
                <a:solidFill>
                  <a:srgbClr val="2C3E50"/>
                </a:solidFill>
                <a:latin typeface="+mj-lt"/>
              </a:rPr>
              <a:t>7.0 Reporting Requirements, Tools and Resources</a:t>
            </a:r>
          </a:p>
        </p:txBody>
      </p:sp>
      <p:graphicFrame>
        <p:nvGraphicFramePr>
          <p:cNvPr id="2" name="Table 1">
            <a:extLst>
              <a:ext uri="{FF2B5EF4-FFF2-40B4-BE49-F238E27FC236}">
                <a16:creationId xmlns:a16="http://schemas.microsoft.com/office/drawing/2014/main" id="{7107F569-9B32-9F14-87EA-3E6BA7FC8D6C}"/>
              </a:ext>
            </a:extLst>
          </p:cNvPr>
          <p:cNvGraphicFramePr>
            <a:graphicFrameLocks noGrp="1"/>
          </p:cNvGraphicFramePr>
          <p:nvPr>
            <p:extLst>
              <p:ext uri="{D42A27DB-BD31-4B8C-83A1-F6EECF244321}">
                <p14:modId xmlns:p14="http://schemas.microsoft.com/office/powerpoint/2010/main" val="808061632"/>
              </p:ext>
            </p:extLst>
          </p:nvPr>
        </p:nvGraphicFramePr>
        <p:xfrm>
          <a:off x="790266" y="1263727"/>
          <a:ext cx="10650620" cy="2168288"/>
        </p:xfrm>
        <a:graphic>
          <a:graphicData uri="http://schemas.openxmlformats.org/drawingml/2006/table">
            <a:tbl>
              <a:tblPr/>
              <a:tblGrid>
                <a:gridCol w="2997984">
                  <a:extLst>
                    <a:ext uri="{9D8B030D-6E8A-4147-A177-3AD203B41FA5}">
                      <a16:colId xmlns:a16="http://schemas.microsoft.com/office/drawing/2014/main" val="4260428633"/>
                    </a:ext>
                  </a:extLst>
                </a:gridCol>
                <a:gridCol w="1284493">
                  <a:extLst>
                    <a:ext uri="{9D8B030D-6E8A-4147-A177-3AD203B41FA5}">
                      <a16:colId xmlns:a16="http://schemas.microsoft.com/office/drawing/2014/main" val="3318577405"/>
                    </a:ext>
                  </a:extLst>
                </a:gridCol>
                <a:gridCol w="2960914">
                  <a:extLst>
                    <a:ext uri="{9D8B030D-6E8A-4147-A177-3AD203B41FA5}">
                      <a16:colId xmlns:a16="http://schemas.microsoft.com/office/drawing/2014/main" val="413013728"/>
                    </a:ext>
                  </a:extLst>
                </a:gridCol>
                <a:gridCol w="3407229">
                  <a:extLst>
                    <a:ext uri="{9D8B030D-6E8A-4147-A177-3AD203B41FA5}">
                      <a16:colId xmlns:a16="http://schemas.microsoft.com/office/drawing/2014/main" val="1121649992"/>
                    </a:ext>
                  </a:extLst>
                </a:gridCol>
              </a:tblGrid>
              <a:tr h="276718">
                <a:tc>
                  <a:txBody>
                    <a:bodyPr/>
                    <a:lstStyle/>
                    <a:p>
                      <a:pPr algn="ctr">
                        <a:buNone/>
                      </a:pPr>
                      <a:r>
                        <a:rPr lang="en-IN" sz="1600" b="1" dirty="0">
                          <a:solidFill>
                            <a:srgbClr val="FFFFFF"/>
                          </a:solidFill>
                          <a:effectLst/>
                        </a:rPr>
                        <a:t>Report Type</a:t>
                      </a:r>
                    </a:p>
                  </a:txBody>
                  <a:tcPr marL="81588" marR="81588" marT="54392" marB="54392" anchor="ctr">
                    <a:lnL w="9525" cap="flat" cmpd="sng" algn="ctr">
                      <a:solidFill>
                        <a:srgbClr val="888888"/>
                      </a:solidFill>
                      <a:prstDash val="solid"/>
                      <a:round/>
                      <a:headEnd type="none" w="med" len="med"/>
                      <a:tailEnd type="none" w="med" len="med"/>
                    </a:lnL>
                    <a:lnR w="9525" cap="flat" cmpd="sng" algn="ctr">
                      <a:solidFill>
                        <a:srgbClr val="888888"/>
                      </a:solidFill>
                      <a:prstDash val="solid"/>
                      <a:round/>
                      <a:headEnd type="none" w="med" len="med"/>
                      <a:tailEnd type="none" w="med" len="med"/>
                    </a:lnR>
                    <a:lnT w="9525" cap="flat" cmpd="sng" algn="ctr">
                      <a:solidFill>
                        <a:srgbClr val="888888"/>
                      </a:solidFill>
                      <a:prstDash val="solid"/>
                      <a:round/>
                      <a:headEnd type="none" w="med" len="med"/>
                      <a:tailEnd type="none" w="med" len="med"/>
                    </a:lnT>
                    <a:lnB w="9525" cap="flat" cmpd="sng" algn="ctr">
                      <a:solidFill>
                        <a:srgbClr val="888888"/>
                      </a:solidFill>
                      <a:prstDash val="solid"/>
                      <a:round/>
                      <a:headEnd type="none" w="med" len="med"/>
                      <a:tailEnd type="none" w="med" len="med"/>
                    </a:lnB>
                    <a:solidFill>
                      <a:srgbClr val="2C3E50"/>
                    </a:solidFill>
                  </a:tcPr>
                </a:tc>
                <a:tc>
                  <a:txBody>
                    <a:bodyPr/>
                    <a:lstStyle/>
                    <a:p>
                      <a:pPr algn="ctr">
                        <a:buNone/>
                      </a:pPr>
                      <a:r>
                        <a:rPr lang="en-IN" sz="1600" b="1" dirty="0">
                          <a:solidFill>
                            <a:srgbClr val="FFFFFF"/>
                          </a:solidFill>
                          <a:effectLst/>
                        </a:rPr>
                        <a:t>Frequency</a:t>
                      </a:r>
                    </a:p>
                  </a:txBody>
                  <a:tcPr marL="81588" marR="81588" marT="54392" marB="54392" anchor="ctr">
                    <a:lnL w="9525" cap="flat" cmpd="sng" algn="ctr">
                      <a:solidFill>
                        <a:srgbClr val="888888"/>
                      </a:solidFill>
                      <a:prstDash val="solid"/>
                      <a:round/>
                      <a:headEnd type="none" w="med" len="med"/>
                      <a:tailEnd type="none" w="med" len="med"/>
                    </a:lnL>
                    <a:lnR w="9525" cap="flat" cmpd="sng" algn="ctr">
                      <a:solidFill>
                        <a:srgbClr val="888888"/>
                      </a:solidFill>
                      <a:prstDash val="solid"/>
                      <a:round/>
                      <a:headEnd type="none" w="med" len="med"/>
                      <a:tailEnd type="none" w="med" len="med"/>
                    </a:lnR>
                    <a:lnT w="9525" cap="flat" cmpd="sng" algn="ctr">
                      <a:solidFill>
                        <a:srgbClr val="888888"/>
                      </a:solidFill>
                      <a:prstDash val="solid"/>
                      <a:round/>
                      <a:headEnd type="none" w="med" len="med"/>
                      <a:tailEnd type="none" w="med" len="med"/>
                    </a:lnT>
                    <a:lnB w="9525" cap="flat" cmpd="sng" algn="ctr">
                      <a:solidFill>
                        <a:srgbClr val="888888"/>
                      </a:solidFill>
                      <a:prstDash val="solid"/>
                      <a:round/>
                      <a:headEnd type="none" w="med" len="med"/>
                      <a:tailEnd type="none" w="med" len="med"/>
                    </a:lnB>
                    <a:solidFill>
                      <a:srgbClr val="2C3E50"/>
                    </a:solidFill>
                  </a:tcPr>
                </a:tc>
                <a:tc>
                  <a:txBody>
                    <a:bodyPr/>
                    <a:lstStyle/>
                    <a:p>
                      <a:pPr algn="ctr">
                        <a:buNone/>
                      </a:pPr>
                      <a:r>
                        <a:rPr lang="en-IN" sz="1600" b="1">
                          <a:solidFill>
                            <a:srgbClr val="FFFFFF"/>
                          </a:solidFill>
                          <a:effectLst/>
                        </a:rPr>
                        <a:t>Key Contents</a:t>
                      </a:r>
                    </a:p>
                  </a:txBody>
                  <a:tcPr marL="81588" marR="81588" marT="54392" marB="54392" anchor="ctr">
                    <a:lnL w="9525" cap="flat" cmpd="sng" algn="ctr">
                      <a:solidFill>
                        <a:srgbClr val="888888"/>
                      </a:solidFill>
                      <a:prstDash val="solid"/>
                      <a:round/>
                      <a:headEnd type="none" w="med" len="med"/>
                      <a:tailEnd type="none" w="med" len="med"/>
                    </a:lnL>
                    <a:lnR w="9525" cap="flat" cmpd="sng" algn="ctr">
                      <a:solidFill>
                        <a:srgbClr val="888888"/>
                      </a:solidFill>
                      <a:prstDash val="solid"/>
                      <a:round/>
                      <a:headEnd type="none" w="med" len="med"/>
                      <a:tailEnd type="none" w="med" len="med"/>
                    </a:lnR>
                    <a:lnT w="9525" cap="flat" cmpd="sng" algn="ctr">
                      <a:solidFill>
                        <a:srgbClr val="888888"/>
                      </a:solidFill>
                      <a:prstDash val="solid"/>
                      <a:round/>
                      <a:headEnd type="none" w="med" len="med"/>
                      <a:tailEnd type="none" w="med" len="med"/>
                    </a:lnT>
                    <a:lnB w="9525" cap="flat" cmpd="sng" algn="ctr">
                      <a:solidFill>
                        <a:srgbClr val="888888"/>
                      </a:solidFill>
                      <a:prstDash val="solid"/>
                      <a:round/>
                      <a:headEnd type="none" w="med" len="med"/>
                      <a:tailEnd type="none" w="med" len="med"/>
                    </a:lnB>
                    <a:solidFill>
                      <a:srgbClr val="2C3E50"/>
                    </a:solidFill>
                  </a:tcPr>
                </a:tc>
                <a:tc>
                  <a:txBody>
                    <a:bodyPr/>
                    <a:lstStyle/>
                    <a:p>
                      <a:pPr algn="ctr">
                        <a:buNone/>
                      </a:pPr>
                      <a:r>
                        <a:rPr lang="en-IN" sz="1600" b="1" dirty="0">
                          <a:solidFill>
                            <a:srgbClr val="FFFFFF"/>
                          </a:solidFill>
                          <a:effectLst/>
                        </a:rPr>
                        <a:t>Recipient</a:t>
                      </a:r>
                    </a:p>
                  </a:txBody>
                  <a:tcPr marL="81588" marR="81588" marT="54392" marB="54392" anchor="ctr">
                    <a:lnL w="9525" cap="flat" cmpd="sng" algn="ctr">
                      <a:solidFill>
                        <a:srgbClr val="888888"/>
                      </a:solidFill>
                      <a:prstDash val="solid"/>
                      <a:round/>
                      <a:headEnd type="none" w="med" len="med"/>
                      <a:tailEnd type="none" w="med" len="med"/>
                    </a:lnL>
                    <a:lnR w="9525" cap="flat" cmpd="sng" algn="ctr">
                      <a:solidFill>
                        <a:srgbClr val="888888"/>
                      </a:solidFill>
                      <a:prstDash val="solid"/>
                      <a:round/>
                      <a:headEnd type="none" w="med" len="med"/>
                      <a:tailEnd type="none" w="med" len="med"/>
                    </a:lnR>
                    <a:lnT w="9525" cap="flat" cmpd="sng" algn="ctr">
                      <a:solidFill>
                        <a:srgbClr val="888888"/>
                      </a:solidFill>
                      <a:prstDash val="solid"/>
                      <a:round/>
                      <a:headEnd type="none" w="med" len="med"/>
                      <a:tailEnd type="none" w="med" len="med"/>
                    </a:lnT>
                    <a:lnB w="9525" cap="flat" cmpd="sng" algn="ctr">
                      <a:solidFill>
                        <a:srgbClr val="888888"/>
                      </a:solidFill>
                      <a:prstDash val="solid"/>
                      <a:round/>
                      <a:headEnd type="none" w="med" len="med"/>
                      <a:tailEnd type="none" w="med" len="med"/>
                    </a:lnB>
                    <a:solidFill>
                      <a:srgbClr val="2C3E50"/>
                    </a:solidFill>
                  </a:tcPr>
                </a:tc>
                <a:extLst>
                  <a:ext uri="{0D108BD9-81ED-4DB2-BD59-A6C34878D82A}">
                    <a16:rowId xmlns:a16="http://schemas.microsoft.com/office/drawing/2014/main" val="792129232"/>
                  </a:ext>
                </a:extLst>
              </a:tr>
              <a:tr h="1424823">
                <a:tc>
                  <a:txBody>
                    <a:bodyPr/>
                    <a:lstStyle/>
                    <a:p>
                      <a:pPr algn="l">
                        <a:buNone/>
                      </a:pPr>
                      <a:r>
                        <a:rPr lang="en-IN" sz="1600" b="1" dirty="0">
                          <a:solidFill>
                            <a:srgbClr val="415462"/>
                          </a:solidFill>
                          <a:effectLst/>
                        </a:rPr>
                        <a:t>VMS Master (Status for venues)</a:t>
                      </a:r>
                      <a:endParaRPr lang="en-IN" sz="1600" b="0" dirty="0">
                        <a:solidFill>
                          <a:srgbClr val="415462"/>
                        </a:solidFill>
                        <a:effectLst/>
                      </a:endParaRPr>
                    </a:p>
                  </a:txBody>
                  <a:tcPr marL="81588" marR="81588" marT="54392" marB="54392" anchor="ctr">
                    <a:lnL w="9525" cap="flat" cmpd="sng" algn="ctr">
                      <a:solidFill>
                        <a:srgbClr val="888888"/>
                      </a:solidFill>
                      <a:prstDash val="solid"/>
                      <a:round/>
                      <a:headEnd type="none" w="med" len="med"/>
                      <a:tailEnd type="none" w="med" len="med"/>
                    </a:lnL>
                    <a:lnR w="9525" cap="flat" cmpd="sng" algn="ctr">
                      <a:solidFill>
                        <a:srgbClr val="888888"/>
                      </a:solidFill>
                      <a:prstDash val="solid"/>
                      <a:round/>
                      <a:headEnd type="none" w="med" len="med"/>
                      <a:tailEnd type="none" w="med" len="med"/>
                    </a:lnR>
                    <a:lnT w="9525" cap="flat" cmpd="sng" algn="ctr">
                      <a:solidFill>
                        <a:srgbClr val="888888"/>
                      </a:solidFill>
                      <a:prstDash val="solid"/>
                      <a:round/>
                      <a:headEnd type="none" w="med" len="med"/>
                      <a:tailEnd type="none" w="med" len="med"/>
                    </a:lnT>
                    <a:lnB w="9525" cap="flat" cmpd="sng" algn="ctr">
                      <a:solidFill>
                        <a:srgbClr val="888888"/>
                      </a:solidFill>
                      <a:prstDash val="solid"/>
                      <a:round/>
                      <a:headEnd type="none" w="med" len="med"/>
                      <a:tailEnd type="none" w="med" len="med"/>
                    </a:lnB>
                    <a:noFill/>
                  </a:tcPr>
                </a:tc>
                <a:tc>
                  <a:txBody>
                    <a:bodyPr/>
                    <a:lstStyle/>
                    <a:p>
                      <a:pPr algn="l">
                        <a:buNone/>
                      </a:pPr>
                      <a:r>
                        <a:rPr lang="en-IN" sz="1600" b="1" dirty="0">
                          <a:solidFill>
                            <a:srgbClr val="415462"/>
                          </a:solidFill>
                          <a:effectLst/>
                        </a:rPr>
                        <a:t>Monthly</a:t>
                      </a:r>
                    </a:p>
                  </a:txBody>
                  <a:tcPr marL="81588" marR="81588" marT="54392" marB="54392" anchor="ctr">
                    <a:lnL w="9525" cap="flat" cmpd="sng" algn="ctr">
                      <a:solidFill>
                        <a:srgbClr val="888888"/>
                      </a:solidFill>
                      <a:prstDash val="solid"/>
                      <a:round/>
                      <a:headEnd type="none" w="med" len="med"/>
                      <a:tailEnd type="none" w="med" len="med"/>
                    </a:lnL>
                    <a:lnR w="9525" cap="flat" cmpd="sng" algn="ctr">
                      <a:solidFill>
                        <a:srgbClr val="888888"/>
                      </a:solidFill>
                      <a:prstDash val="solid"/>
                      <a:round/>
                      <a:headEnd type="none" w="med" len="med"/>
                      <a:tailEnd type="none" w="med" len="med"/>
                    </a:lnR>
                    <a:lnT w="9525" cap="flat" cmpd="sng" algn="ctr">
                      <a:solidFill>
                        <a:srgbClr val="888888"/>
                      </a:solidFill>
                      <a:prstDash val="solid"/>
                      <a:round/>
                      <a:headEnd type="none" w="med" len="med"/>
                      <a:tailEnd type="none" w="med" len="med"/>
                    </a:lnT>
                    <a:lnB w="9525" cap="flat" cmpd="sng" algn="ctr">
                      <a:solidFill>
                        <a:srgbClr val="888888"/>
                      </a:solidFill>
                      <a:prstDash val="solid"/>
                      <a:round/>
                      <a:headEnd type="none" w="med" len="med"/>
                      <a:tailEnd type="none" w="med" len="med"/>
                    </a:lnB>
                    <a:noFill/>
                  </a:tcPr>
                </a:tc>
                <a:tc>
                  <a:txBody>
                    <a:bodyPr/>
                    <a:lstStyle/>
                    <a:p>
                      <a:pPr algn="l">
                        <a:buNone/>
                      </a:pPr>
                      <a:r>
                        <a:rPr lang="en-US" sz="1600" b="1" dirty="0">
                          <a:solidFill>
                            <a:srgbClr val="415462"/>
                          </a:solidFill>
                          <a:effectLst/>
                        </a:rPr>
                        <a:t>Status for venues</a:t>
                      </a:r>
                    </a:p>
                    <a:p>
                      <a:pPr marL="285750" indent="-285750">
                        <a:buFont typeface="Arial" panose="020B0604020202020204" pitchFamily="34" charset="0"/>
                        <a:buChar char="•"/>
                      </a:pPr>
                      <a:r>
                        <a:rPr lang="en-IN" sz="1600" b="0" kern="1200" dirty="0">
                          <a:solidFill>
                            <a:srgbClr val="415462"/>
                          </a:solidFill>
                          <a:effectLst/>
                          <a:latin typeface="+mn-lt"/>
                          <a:ea typeface="+mn-ea"/>
                          <a:cs typeface="+mn-cs"/>
                        </a:rPr>
                        <a:t>Blacklisted</a:t>
                      </a:r>
                    </a:p>
                    <a:p>
                      <a:pPr marL="285750" indent="-285750">
                        <a:buFont typeface="Arial" panose="020B0604020202020204" pitchFamily="34" charset="0"/>
                        <a:buChar char="•"/>
                      </a:pPr>
                      <a:r>
                        <a:rPr lang="en-IN" sz="1600" b="0" kern="1200" dirty="0">
                          <a:solidFill>
                            <a:srgbClr val="415462"/>
                          </a:solidFill>
                          <a:effectLst/>
                          <a:latin typeface="+mn-lt"/>
                          <a:ea typeface="+mn-ea"/>
                          <a:cs typeface="+mn-cs"/>
                        </a:rPr>
                        <a:t>Customer Specific Blacklisted</a:t>
                      </a:r>
                    </a:p>
                    <a:p>
                      <a:pPr marL="285750" indent="-285750">
                        <a:buFont typeface="Arial" panose="020B0604020202020204" pitchFamily="34" charset="0"/>
                        <a:buChar char="•"/>
                      </a:pPr>
                      <a:r>
                        <a:rPr lang="en-IN" sz="1600" b="0" kern="1200" dirty="0">
                          <a:solidFill>
                            <a:srgbClr val="415462"/>
                          </a:solidFill>
                          <a:effectLst/>
                          <a:latin typeface="+mn-lt"/>
                          <a:ea typeface="+mn-ea"/>
                          <a:cs typeface="+mn-cs"/>
                        </a:rPr>
                        <a:t>Sensitive</a:t>
                      </a:r>
                    </a:p>
                    <a:p>
                      <a:pPr marL="285750" indent="-285750">
                        <a:buFont typeface="Arial" panose="020B0604020202020204" pitchFamily="34" charset="0"/>
                        <a:buChar char="•"/>
                      </a:pPr>
                      <a:r>
                        <a:rPr lang="en-IN" sz="1600" b="0" kern="1200" dirty="0">
                          <a:solidFill>
                            <a:srgbClr val="415462"/>
                          </a:solidFill>
                          <a:effectLst/>
                          <a:latin typeface="+mn-lt"/>
                          <a:ea typeface="+mn-ea"/>
                          <a:cs typeface="+mn-cs"/>
                        </a:rPr>
                        <a:t>Average</a:t>
                      </a:r>
                    </a:p>
                    <a:p>
                      <a:pPr marL="285750" indent="-285750">
                        <a:buFont typeface="Arial" panose="020B0604020202020204" pitchFamily="34" charset="0"/>
                        <a:buChar char="•"/>
                      </a:pPr>
                      <a:r>
                        <a:rPr lang="en-IN" sz="1600" b="0" kern="1200" dirty="0">
                          <a:solidFill>
                            <a:srgbClr val="415462"/>
                          </a:solidFill>
                          <a:effectLst/>
                          <a:latin typeface="+mn-lt"/>
                          <a:ea typeface="+mn-ea"/>
                          <a:cs typeface="+mn-cs"/>
                        </a:rPr>
                        <a:t>Good</a:t>
                      </a:r>
                    </a:p>
                    <a:p>
                      <a:pPr algn="l">
                        <a:buNone/>
                      </a:pPr>
                      <a:endParaRPr lang="en-US" sz="1600" b="0" dirty="0">
                        <a:solidFill>
                          <a:srgbClr val="415462"/>
                        </a:solidFill>
                        <a:effectLst/>
                      </a:endParaRPr>
                    </a:p>
                  </a:txBody>
                  <a:tcPr marL="81588" marR="81588" marT="54392" marB="54392" anchor="ctr">
                    <a:lnL w="9525" cap="flat" cmpd="sng" algn="ctr">
                      <a:solidFill>
                        <a:srgbClr val="888888"/>
                      </a:solidFill>
                      <a:prstDash val="solid"/>
                      <a:round/>
                      <a:headEnd type="none" w="med" len="med"/>
                      <a:tailEnd type="none" w="med" len="med"/>
                    </a:lnL>
                    <a:lnR w="9525" cap="flat" cmpd="sng" algn="ctr">
                      <a:solidFill>
                        <a:srgbClr val="888888"/>
                      </a:solidFill>
                      <a:prstDash val="solid"/>
                      <a:round/>
                      <a:headEnd type="none" w="med" len="med"/>
                      <a:tailEnd type="none" w="med" len="med"/>
                    </a:lnR>
                    <a:lnT w="9525" cap="flat" cmpd="sng" algn="ctr">
                      <a:solidFill>
                        <a:srgbClr val="888888"/>
                      </a:solidFill>
                      <a:prstDash val="solid"/>
                      <a:round/>
                      <a:headEnd type="none" w="med" len="med"/>
                      <a:tailEnd type="none" w="med" len="med"/>
                    </a:lnT>
                    <a:lnB w="9525" cap="flat" cmpd="sng" algn="ctr">
                      <a:solidFill>
                        <a:srgbClr val="888888"/>
                      </a:solidFill>
                      <a:prstDash val="solid"/>
                      <a:round/>
                      <a:headEnd type="none" w="med" len="med"/>
                      <a:tailEnd type="none" w="med" len="med"/>
                    </a:lnB>
                    <a:noFill/>
                  </a:tcPr>
                </a:tc>
                <a:tc>
                  <a:txBody>
                    <a:bodyPr/>
                    <a:lstStyle/>
                    <a:p>
                      <a:pPr marL="0" indent="0" algn="l">
                        <a:buFont typeface="Arial" panose="020B0604020202020204" pitchFamily="34" charset="0"/>
                        <a:buNone/>
                      </a:pPr>
                      <a:r>
                        <a:rPr lang="en-IN" sz="1600" b="1" dirty="0">
                          <a:solidFill>
                            <a:srgbClr val="415462"/>
                          </a:solidFill>
                          <a:effectLst/>
                        </a:rPr>
                        <a:t>Stakeholders</a:t>
                      </a:r>
                    </a:p>
                    <a:p>
                      <a:pPr marL="285750" indent="-285750" algn="l">
                        <a:buFont typeface="Arial" panose="020B0604020202020204" pitchFamily="34" charset="0"/>
                        <a:buChar char="•"/>
                      </a:pPr>
                      <a:r>
                        <a:rPr lang="en-IN" sz="1600" b="0" dirty="0">
                          <a:solidFill>
                            <a:srgbClr val="415462"/>
                          </a:solidFill>
                          <a:effectLst/>
                        </a:rPr>
                        <a:t>Channel Team (For Operations)</a:t>
                      </a:r>
                    </a:p>
                    <a:p>
                      <a:pPr marL="285750" indent="-285750" algn="l">
                        <a:buFont typeface="Arial" panose="020B0604020202020204" pitchFamily="34" charset="0"/>
                        <a:buChar char="•"/>
                      </a:pPr>
                      <a:r>
                        <a:rPr lang="en-IN" sz="1600" b="0" dirty="0">
                          <a:solidFill>
                            <a:srgbClr val="415462"/>
                          </a:solidFill>
                          <a:effectLst/>
                        </a:rPr>
                        <a:t>MIS Team (For Scheduling)</a:t>
                      </a:r>
                    </a:p>
                  </a:txBody>
                  <a:tcPr marL="81588" marR="81588" marT="54392" marB="54392" anchor="ctr">
                    <a:lnL w="9525" cap="flat" cmpd="sng" algn="ctr">
                      <a:solidFill>
                        <a:srgbClr val="888888"/>
                      </a:solidFill>
                      <a:prstDash val="solid"/>
                      <a:round/>
                      <a:headEnd type="none" w="med" len="med"/>
                      <a:tailEnd type="none" w="med" len="med"/>
                    </a:lnL>
                    <a:lnR w="9525" cap="flat" cmpd="sng" algn="ctr">
                      <a:solidFill>
                        <a:srgbClr val="888888"/>
                      </a:solidFill>
                      <a:prstDash val="solid"/>
                      <a:round/>
                      <a:headEnd type="none" w="med" len="med"/>
                      <a:tailEnd type="none" w="med" len="med"/>
                    </a:lnR>
                    <a:lnT w="9525" cap="flat" cmpd="sng" algn="ctr">
                      <a:solidFill>
                        <a:srgbClr val="888888"/>
                      </a:solidFill>
                      <a:prstDash val="solid"/>
                      <a:round/>
                      <a:headEnd type="none" w="med" len="med"/>
                      <a:tailEnd type="none" w="med" len="med"/>
                    </a:lnT>
                    <a:lnB w="9525" cap="flat" cmpd="sng" algn="ctr">
                      <a:solidFill>
                        <a:srgbClr val="888888"/>
                      </a:solidFill>
                      <a:prstDash val="solid"/>
                      <a:round/>
                      <a:headEnd type="none" w="med" len="med"/>
                      <a:tailEnd type="none" w="med" len="med"/>
                    </a:lnB>
                    <a:noFill/>
                  </a:tcPr>
                </a:tc>
                <a:extLst>
                  <a:ext uri="{0D108BD9-81ED-4DB2-BD59-A6C34878D82A}">
                    <a16:rowId xmlns:a16="http://schemas.microsoft.com/office/drawing/2014/main" val="1311778964"/>
                  </a:ext>
                </a:extLst>
              </a:tr>
            </a:tbl>
          </a:graphicData>
        </a:graphic>
      </p:graphicFrame>
      <p:sp>
        <p:nvSpPr>
          <p:cNvPr id="4" name="TextBox 3">
            <a:extLst>
              <a:ext uri="{FF2B5EF4-FFF2-40B4-BE49-F238E27FC236}">
                <a16:creationId xmlns:a16="http://schemas.microsoft.com/office/drawing/2014/main" id="{3002ADEA-7568-A750-8A50-2D26734267CC}"/>
              </a:ext>
            </a:extLst>
          </p:cNvPr>
          <p:cNvSpPr txBox="1"/>
          <p:nvPr/>
        </p:nvSpPr>
        <p:spPr>
          <a:xfrm>
            <a:off x="790267" y="4040456"/>
            <a:ext cx="10683978" cy="1384995"/>
          </a:xfrm>
          <a:prstGeom prst="rect">
            <a:avLst/>
          </a:prstGeom>
          <a:noFill/>
        </p:spPr>
        <p:txBody>
          <a:bodyPr wrap="square">
            <a:spAutoFit/>
          </a:bodyPr>
          <a:lstStyle/>
          <a:p>
            <a:pPr algn="just">
              <a:spcAft>
                <a:spcPts val="750"/>
              </a:spcAft>
            </a:pPr>
            <a:r>
              <a:rPr lang="en-US" sz="1600" b="1" i="0" dirty="0">
                <a:solidFill>
                  <a:srgbClr val="415462"/>
                </a:solidFill>
                <a:effectLst/>
              </a:rPr>
              <a:t>Tools and Resources:</a:t>
            </a:r>
          </a:p>
          <a:p>
            <a:pPr marL="285750" indent="-285750" algn="just">
              <a:spcAft>
                <a:spcPts val="750"/>
              </a:spcAft>
              <a:buFont typeface="Arial" panose="020B0604020202020204" pitchFamily="34" charset="0"/>
              <a:buChar char="•"/>
            </a:pPr>
            <a:r>
              <a:rPr lang="en-US" sz="1600" b="1" i="0" dirty="0">
                <a:solidFill>
                  <a:srgbClr val="415462"/>
                </a:solidFill>
                <a:effectLst/>
              </a:rPr>
              <a:t>Data Warehouse: </a:t>
            </a:r>
            <a:r>
              <a:rPr lang="en-US" sz="1600" i="0" dirty="0">
                <a:solidFill>
                  <a:srgbClr val="415462"/>
                </a:solidFill>
                <a:effectLst/>
              </a:rPr>
              <a:t>Microsoft Excel</a:t>
            </a:r>
          </a:p>
          <a:p>
            <a:pPr marL="285750" indent="-285750" algn="just">
              <a:spcAft>
                <a:spcPts val="750"/>
              </a:spcAft>
              <a:buFont typeface="Arial" panose="020B0604020202020204" pitchFamily="34" charset="0"/>
              <a:buChar char="•"/>
            </a:pPr>
            <a:r>
              <a:rPr lang="en-US" sz="1600" b="1" i="0" dirty="0">
                <a:solidFill>
                  <a:srgbClr val="415462"/>
                </a:solidFill>
                <a:effectLst/>
              </a:rPr>
              <a:t>Reporting Tool: </a:t>
            </a:r>
            <a:r>
              <a:rPr lang="en-US" sz="1600" dirty="0">
                <a:solidFill>
                  <a:srgbClr val="415462"/>
                </a:solidFill>
              </a:rPr>
              <a:t>Microsoft Excel </a:t>
            </a:r>
          </a:p>
          <a:p>
            <a:pPr marL="285750" indent="-285750" algn="just">
              <a:spcAft>
                <a:spcPts val="750"/>
              </a:spcAft>
              <a:buFont typeface="Arial" panose="020B0604020202020204" pitchFamily="34" charset="0"/>
              <a:buChar char="•"/>
            </a:pPr>
            <a:r>
              <a:rPr lang="en-US" sz="1600" b="1" i="0" dirty="0">
                <a:solidFill>
                  <a:srgbClr val="415462"/>
                </a:solidFill>
                <a:effectLst/>
              </a:rPr>
              <a:t>Survey Tool: </a:t>
            </a:r>
            <a:r>
              <a:rPr lang="en-US" sz="1600" i="0" dirty="0">
                <a:solidFill>
                  <a:srgbClr val="415462"/>
                </a:solidFill>
                <a:effectLst/>
              </a:rPr>
              <a:t>Google Map</a:t>
            </a:r>
          </a:p>
        </p:txBody>
      </p:sp>
    </p:spTree>
    <p:extLst>
      <p:ext uri="{BB962C8B-B14F-4D97-AF65-F5344CB8AC3E}">
        <p14:creationId xmlns:p14="http://schemas.microsoft.com/office/powerpoint/2010/main" val="1277679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C45EF-ECCE-86C8-3CF9-3A756787E987}"/>
            </a:ext>
          </a:extLst>
        </p:cNvPr>
        <p:cNvGrpSpPr/>
        <p:nvPr/>
      </p:nvGrpSpPr>
      <p:grpSpPr>
        <a:xfrm>
          <a:off x="0" y="0"/>
          <a:ext cx="0" cy="0"/>
          <a:chOff x="0" y="0"/>
          <a:chExt cx="0" cy="0"/>
        </a:xfrm>
      </p:grpSpPr>
      <p:sp>
        <p:nvSpPr>
          <p:cNvPr id="18" name="TextBox 17">
            <a:extLst>
              <a:ext uri="{FF2B5EF4-FFF2-40B4-BE49-F238E27FC236}">
                <a16:creationId xmlns:a16="http://schemas.microsoft.com/office/drawing/2014/main" id="{6B39A739-440C-CFD2-5C33-D66CF1E09438}"/>
              </a:ext>
            </a:extLst>
          </p:cNvPr>
          <p:cNvSpPr txBox="1"/>
          <p:nvPr/>
        </p:nvSpPr>
        <p:spPr>
          <a:xfrm>
            <a:off x="790267" y="781065"/>
            <a:ext cx="7473746" cy="369332"/>
          </a:xfrm>
          <a:prstGeom prst="rect">
            <a:avLst/>
          </a:prstGeom>
          <a:noFill/>
        </p:spPr>
        <p:txBody>
          <a:bodyPr wrap="square">
            <a:spAutoFit/>
          </a:bodyPr>
          <a:lstStyle/>
          <a:p>
            <a:r>
              <a:rPr lang="en-US" b="1" dirty="0">
                <a:solidFill>
                  <a:srgbClr val="2C3E50"/>
                </a:solidFill>
                <a:latin typeface="+mj-lt"/>
              </a:rPr>
              <a:t>9.0 Review and Continuous Improvement</a:t>
            </a:r>
          </a:p>
        </p:txBody>
      </p:sp>
      <p:sp>
        <p:nvSpPr>
          <p:cNvPr id="6" name="TextBox 5">
            <a:extLst>
              <a:ext uri="{FF2B5EF4-FFF2-40B4-BE49-F238E27FC236}">
                <a16:creationId xmlns:a16="http://schemas.microsoft.com/office/drawing/2014/main" id="{04364A3A-4949-3DB4-01FE-D3EAF55C7DC3}"/>
              </a:ext>
            </a:extLst>
          </p:cNvPr>
          <p:cNvSpPr txBox="1"/>
          <p:nvPr/>
        </p:nvSpPr>
        <p:spPr>
          <a:xfrm>
            <a:off x="790267" y="1284188"/>
            <a:ext cx="10683978" cy="933589"/>
          </a:xfrm>
          <a:prstGeom prst="rect">
            <a:avLst/>
          </a:prstGeom>
          <a:noFill/>
        </p:spPr>
        <p:txBody>
          <a:bodyPr wrap="square">
            <a:spAutoFit/>
          </a:bodyPr>
          <a:lstStyle/>
          <a:p>
            <a:pPr algn="just">
              <a:spcAft>
                <a:spcPts val="750"/>
              </a:spcAft>
            </a:pPr>
            <a:r>
              <a:rPr lang="en-US" sz="1600" i="0" dirty="0">
                <a:solidFill>
                  <a:srgbClr val="415462"/>
                </a:solidFill>
                <a:effectLst/>
              </a:rPr>
              <a:t>This SOP is a living document. It will be reviewed Quarterly by the Data Analytics Lead. </a:t>
            </a:r>
          </a:p>
          <a:p>
            <a:pPr algn="just">
              <a:spcAft>
                <a:spcPts val="750"/>
              </a:spcAft>
            </a:pPr>
            <a:r>
              <a:rPr lang="en-US" sz="1600" i="0" dirty="0">
                <a:solidFill>
                  <a:srgbClr val="415462"/>
                </a:solidFill>
                <a:effectLst/>
              </a:rPr>
              <a:t>Any process failures (e.g., data loss, inaccurate reporting) will trigger an immediate "Corrective Action Review" to update this SOP if necessary.</a:t>
            </a:r>
          </a:p>
        </p:txBody>
      </p:sp>
    </p:spTree>
    <p:extLst>
      <p:ext uri="{BB962C8B-B14F-4D97-AF65-F5344CB8AC3E}">
        <p14:creationId xmlns:p14="http://schemas.microsoft.com/office/powerpoint/2010/main" val="27555579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B6298-D42D-AD5F-6EFC-DBF5B401CB3C}"/>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17A2F3A9-D6F5-10A4-F66E-D5BD89F3EBB0}"/>
              </a:ext>
            </a:extLst>
          </p:cNvPr>
          <p:cNvSpPr/>
          <p:nvPr/>
        </p:nvSpPr>
        <p:spPr>
          <a:xfrm rot="10800000">
            <a:off x="0" y="-1"/>
            <a:ext cx="5248483" cy="6923009"/>
          </a:xfrm>
          <a:prstGeom prst="roundRect">
            <a:avLst>
              <a:gd name="adj" fmla="val 0"/>
            </a:avLst>
          </a:prstGeom>
          <a:gradFill flip="none" rotWithShape="1">
            <a:gsLst>
              <a:gs pos="0">
                <a:srgbClr val="229396"/>
              </a:gs>
              <a:gs pos="20000">
                <a:srgbClr val="000D57"/>
              </a:gs>
            </a:gsLst>
            <a:path path="circle">
              <a:fillToRect l="100000" t="100000"/>
            </a:path>
            <a:tileRect r="-100000" b="-100000"/>
          </a:gra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dirty="0"/>
          </a:p>
        </p:txBody>
      </p:sp>
      <p:sp>
        <p:nvSpPr>
          <p:cNvPr id="5" name="Title 3">
            <a:extLst>
              <a:ext uri="{FF2B5EF4-FFF2-40B4-BE49-F238E27FC236}">
                <a16:creationId xmlns:a16="http://schemas.microsoft.com/office/drawing/2014/main" id="{36713B6B-231A-8D86-1BCB-35D6DCC9318D}"/>
              </a:ext>
            </a:extLst>
          </p:cNvPr>
          <p:cNvSpPr txBox="1">
            <a:spLocks/>
          </p:cNvSpPr>
          <p:nvPr/>
        </p:nvSpPr>
        <p:spPr>
          <a:xfrm>
            <a:off x="3666913" y="5461836"/>
            <a:ext cx="1474553" cy="266672"/>
          </a:xfrm>
          <a:prstGeom prst="rect">
            <a:avLst/>
          </a:prstGeom>
          <a:noFill/>
        </p:spPr>
        <p:txBody>
          <a:bodyPr vert="horz" wrap="square" lIns="91419" tIns="45709" rIns="91419" bIns="45709" rtlCol="0" anchor="ctr">
            <a:noAutofit/>
          </a:bodyPr>
          <a:lstStyle>
            <a:lvl1pPr algn="l" defTabSz="914309" rtl="0" eaLnBrk="1" latinLnBrk="0" hangingPunct="1">
              <a:lnSpc>
                <a:spcPct val="100000"/>
              </a:lnSpc>
              <a:spcBef>
                <a:spcPct val="0"/>
              </a:spcBef>
              <a:buNone/>
              <a:defRPr sz="4000" b="1" kern="1200">
                <a:solidFill>
                  <a:schemeClr val="bg1"/>
                </a:solidFill>
                <a:effectLst>
                  <a:outerShdw blurRad="38100" dist="38100" dir="2700000" algn="tl">
                    <a:srgbClr val="000000">
                      <a:alpha val="43137"/>
                    </a:srgbClr>
                  </a:outerShdw>
                </a:effectLst>
                <a:latin typeface="+mj-lt"/>
                <a:ea typeface="+mj-ea"/>
                <a:cs typeface="+mj-cs"/>
              </a:defRPr>
            </a:lvl1pPr>
          </a:lstStyle>
          <a:p>
            <a:pPr marL="457200" indent="-457200"/>
            <a:endParaRPr lang="en-IN" sz="1100" b="0" dirty="0">
              <a:effectLst/>
              <a:latin typeface="IBM Plex Sans Light" panose="020B0403050203000203" pitchFamily="34" charset="0"/>
              <a:cs typeface="Calibri" panose="020F0502020204030204" pitchFamily="34" charset="0"/>
            </a:endParaRPr>
          </a:p>
        </p:txBody>
      </p:sp>
      <p:sp>
        <p:nvSpPr>
          <p:cNvPr id="7" name="Text Box 143">
            <a:extLst>
              <a:ext uri="{FF2B5EF4-FFF2-40B4-BE49-F238E27FC236}">
                <a16:creationId xmlns:a16="http://schemas.microsoft.com/office/drawing/2014/main" id="{3869606B-B101-41D2-C9BE-5AA62DBFCDC0}"/>
              </a:ext>
            </a:extLst>
          </p:cNvPr>
          <p:cNvSpPr txBox="1"/>
          <p:nvPr/>
        </p:nvSpPr>
        <p:spPr>
          <a:xfrm>
            <a:off x="491414" y="3345564"/>
            <a:ext cx="4493132" cy="727813"/>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19" tIns="45709" rIns="91419" bIns="45709" numCol="1" spcCol="0" rtlCol="0" fromWordArt="0" anchor="t" anchorCtr="0" forceAA="0" compatLnSpc="1">
            <a:prstTxWarp prst="textNoShape">
              <a:avLst/>
            </a:prstTxWarp>
            <a:noAutofit/>
          </a:bodyPr>
          <a:lstStyle/>
          <a:p>
            <a:pPr>
              <a:spcAft>
                <a:spcPts val="0"/>
              </a:spcAft>
            </a:pPr>
            <a:r>
              <a:rPr lang="en-US" sz="1800" b="1" dirty="0">
                <a:solidFill>
                  <a:srgbClr val="33CCCC"/>
                </a:solidFill>
                <a:latin typeface="Calibri" panose="020F0502020204030204" pitchFamily="34" charset="0"/>
                <a:ea typeface="Source Sans Pro Light"/>
                <a:cs typeface="Calibri" panose="020F0502020204030204" pitchFamily="34" charset="0"/>
              </a:rPr>
              <a:t>Head Office: </a:t>
            </a:r>
            <a:endParaRPr lang="en-IN" sz="1800" dirty="0">
              <a:solidFill>
                <a:srgbClr val="33CCCC"/>
              </a:solidFill>
              <a:latin typeface="Calibri" panose="020F0502020204030204" pitchFamily="34" charset="0"/>
              <a:ea typeface="Source Sans Pro Light"/>
              <a:cs typeface="Calibri" panose="020F0502020204030204" pitchFamily="34" charset="0"/>
            </a:endParaRPr>
          </a:p>
          <a:p>
            <a:pPr>
              <a:spcAft>
                <a:spcPts val="0"/>
              </a:spcAft>
            </a:pPr>
            <a:r>
              <a:rPr lang="en-US" sz="1800" dirty="0">
                <a:solidFill>
                  <a:srgbClr val="33CCCC"/>
                </a:solidFill>
                <a:latin typeface="Calibri" panose="020F0502020204030204" pitchFamily="34" charset="0"/>
                <a:ea typeface="Source Sans Pro Light"/>
                <a:cs typeface="Calibri" panose="020F0502020204030204" pitchFamily="34" charset="0"/>
              </a:rPr>
              <a:t>DEXIT GLOBAL Limited</a:t>
            </a:r>
          </a:p>
          <a:p>
            <a:pPr>
              <a:spcAft>
                <a:spcPts val="0"/>
              </a:spcAft>
            </a:pPr>
            <a:r>
              <a:rPr lang="en-US" sz="1800" kern="1200" dirty="0">
                <a:solidFill>
                  <a:srgbClr val="33CCCC"/>
                </a:solidFill>
                <a:effectLst/>
                <a:latin typeface="+mn-lt"/>
                <a:ea typeface="+mn-ea"/>
                <a:cs typeface="+mn-cs"/>
              </a:rPr>
              <a:t>502, Skyline Icon, Andheri- Kurla Road, Andheri (East), Mumbai- 400 059, India</a:t>
            </a:r>
            <a:endParaRPr lang="en-US" sz="1800" dirty="0">
              <a:solidFill>
                <a:srgbClr val="33CCCC"/>
              </a:solidFill>
              <a:latin typeface="Calibri" panose="020F0502020204030204" pitchFamily="34" charset="0"/>
              <a:ea typeface="Source Sans Pro Light"/>
              <a:cs typeface="Calibri" panose="020F0502020204030204" pitchFamily="34" charset="0"/>
            </a:endParaRPr>
          </a:p>
        </p:txBody>
      </p:sp>
      <p:sp>
        <p:nvSpPr>
          <p:cNvPr id="8" name="Rectangle 7">
            <a:extLst>
              <a:ext uri="{FF2B5EF4-FFF2-40B4-BE49-F238E27FC236}">
                <a16:creationId xmlns:a16="http://schemas.microsoft.com/office/drawing/2014/main" id="{7FC0D34D-0C65-EA95-AB64-B3B66E83E5CF}"/>
              </a:ext>
            </a:extLst>
          </p:cNvPr>
          <p:cNvSpPr/>
          <p:nvPr/>
        </p:nvSpPr>
        <p:spPr>
          <a:xfrm>
            <a:off x="-217800" y="5489380"/>
            <a:ext cx="5005025" cy="369332"/>
          </a:xfrm>
          <a:prstGeom prst="rect">
            <a:avLst/>
          </a:prstGeom>
        </p:spPr>
        <p:txBody>
          <a:bodyPr wrap="square">
            <a:spAutoFit/>
          </a:bodyPr>
          <a:lstStyle/>
          <a:p>
            <a:pPr marR="11428" algn="r">
              <a:spcBef>
                <a:spcPts val="1035"/>
              </a:spcBef>
              <a:spcAft>
                <a:spcPts val="0"/>
              </a:spcAft>
            </a:pPr>
            <a:r>
              <a:rPr lang="en-US" sz="1800" dirty="0">
                <a:solidFill>
                  <a:srgbClr val="33CCCC"/>
                </a:solidFill>
                <a:latin typeface="Calibri" panose="020F0502020204030204" pitchFamily="34" charset="0"/>
                <a:ea typeface="Source Sans Pro Light"/>
                <a:cs typeface="Calibri" panose="020F0502020204030204" pitchFamily="34" charset="0"/>
              </a:rPr>
              <a:t>©</a:t>
            </a:r>
            <a:r>
              <a:rPr lang="en-US" sz="1800" spc="-5" dirty="0">
                <a:solidFill>
                  <a:srgbClr val="33CCCC"/>
                </a:solidFill>
                <a:latin typeface="Calibri" panose="020F0502020204030204" pitchFamily="34" charset="0"/>
                <a:ea typeface="Source Sans Pro Light"/>
                <a:cs typeface="Calibri" panose="020F0502020204030204" pitchFamily="34" charset="0"/>
              </a:rPr>
              <a:t> </a:t>
            </a:r>
            <a:r>
              <a:rPr lang="en-US" sz="1800" dirty="0">
                <a:solidFill>
                  <a:srgbClr val="33CCCC"/>
                </a:solidFill>
                <a:latin typeface="Calibri" panose="020F0502020204030204" pitchFamily="34" charset="0"/>
                <a:ea typeface="Source Sans Pro Light"/>
                <a:cs typeface="Calibri" panose="020F0502020204030204" pitchFamily="34" charset="0"/>
              </a:rPr>
              <a:t>DEXIT GLOBAL</a:t>
            </a:r>
            <a:r>
              <a:rPr lang="en-US" sz="1800" spc="-5" dirty="0">
                <a:solidFill>
                  <a:srgbClr val="33CCCC"/>
                </a:solidFill>
                <a:latin typeface="Calibri" panose="020F0502020204030204" pitchFamily="34" charset="0"/>
                <a:ea typeface="Source Sans Pro Light"/>
                <a:cs typeface="Calibri" panose="020F0502020204030204" pitchFamily="34" charset="0"/>
              </a:rPr>
              <a:t> </a:t>
            </a:r>
            <a:r>
              <a:rPr lang="en-US" sz="1800" dirty="0">
                <a:solidFill>
                  <a:srgbClr val="33CCCC"/>
                </a:solidFill>
                <a:latin typeface="Calibri" panose="020F0502020204030204" pitchFamily="34" charset="0"/>
                <a:ea typeface="Source Sans Pro Light"/>
                <a:cs typeface="Calibri" panose="020F0502020204030204" pitchFamily="34" charset="0"/>
              </a:rPr>
              <a:t>Limited.</a:t>
            </a:r>
            <a:r>
              <a:rPr lang="en-US" sz="1800" spc="-5" dirty="0">
                <a:solidFill>
                  <a:srgbClr val="33CCCC"/>
                </a:solidFill>
                <a:latin typeface="Calibri" panose="020F0502020204030204" pitchFamily="34" charset="0"/>
                <a:ea typeface="Source Sans Pro Light"/>
                <a:cs typeface="Calibri" panose="020F0502020204030204" pitchFamily="34" charset="0"/>
              </a:rPr>
              <a:t> </a:t>
            </a:r>
            <a:r>
              <a:rPr lang="en-US" sz="1800" dirty="0">
                <a:solidFill>
                  <a:srgbClr val="33CCCC"/>
                </a:solidFill>
                <a:latin typeface="Calibri" panose="020F0502020204030204" pitchFamily="34" charset="0"/>
                <a:ea typeface="Source Sans Pro Light"/>
                <a:cs typeface="Calibri" panose="020F0502020204030204" pitchFamily="34" charset="0"/>
              </a:rPr>
              <a:t>All</a:t>
            </a:r>
            <a:r>
              <a:rPr lang="en-US" sz="1800" spc="-5" dirty="0">
                <a:solidFill>
                  <a:srgbClr val="33CCCC"/>
                </a:solidFill>
                <a:latin typeface="Calibri" panose="020F0502020204030204" pitchFamily="34" charset="0"/>
                <a:ea typeface="Source Sans Pro Light"/>
                <a:cs typeface="Calibri" panose="020F0502020204030204" pitchFamily="34" charset="0"/>
              </a:rPr>
              <a:t> </a:t>
            </a:r>
            <a:r>
              <a:rPr lang="en-US" sz="1800" dirty="0">
                <a:solidFill>
                  <a:srgbClr val="33CCCC"/>
                </a:solidFill>
                <a:latin typeface="Calibri" panose="020F0502020204030204" pitchFamily="34" charset="0"/>
                <a:ea typeface="Source Sans Pro Light"/>
                <a:cs typeface="Calibri" panose="020F0502020204030204" pitchFamily="34" charset="0"/>
              </a:rPr>
              <a:t>rights </a:t>
            </a:r>
            <a:r>
              <a:rPr lang="en-US" sz="1800" spc="-10" dirty="0">
                <a:solidFill>
                  <a:srgbClr val="33CCCC"/>
                </a:solidFill>
                <a:latin typeface="Calibri" panose="020F0502020204030204" pitchFamily="34" charset="0"/>
                <a:ea typeface="Source Sans Pro Light"/>
                <a:cs typeface="Calibri" panose="020F0502020204030204" pitchFamily="34" charset="0"/>
              </a:rPr>
              <a:t>reserved</a:t>
            </a:r>
            <a:endParaRPr lang="en-IN" sz="1800" dirty="0">
              <a:solidFill>
                <a:srgbClr val="33CCCC"/>
              </a:solidFill>
              <a:latin typeface="Calibri" panose="020F0502020204030204" pitchFamily="34" charset="0"/>
              <a:ea typeface="Source Sans Pro Light"/>
              <a:cs typeface="Calibri" panose="020F0502020204030204" pitchFamily="34" charset="0"/>
            </a:endParaRPr>
          </a:p>
        </p:txBody>
      </p:sp>
      <p:pic>
        <p:nvPicPr>
          <p:cNvPr id="9" name="Picture 8">
            <a:extLst>
              <a:ext uri="{FF2B5EF4-FFF2-40B4-BE49-F238E27FC236}">
                <a16:creationId xmlns:a16="http://schemas.microsoft.com/office/drawing/2014/main" id="{0ABE77A4-8516-0F4C-7825-857C1BED30D4}"/>
              </a:ext>
            </a:extLst>
          </p:cNvPr>
          <p:cNvPicPr>
            <a:picLocks noChangeAspect="1"/>
          </p:cNvPicPr>
          <p:nvPr/>
        </p:nvPicPr>
        <p:blipFill>
          <a:blip r:embed="rId2"/>
          <a:stretch>
            <a:fillRect/>
          </a:stretch>
        </p:blipFill>
        <p:spPr>
          <a:xfrm>
            <a:off x="570403" y="6039280"/>
            <a:ext cx="1003083" cy="270673"/>
          </a:xfrm>
          <a:prstGeom prst="rect">
            <a:avLst/>
          </a:prstGeom>
        </p:spPr>
      </p:pic>
      <p:sp>
        <p:nvSpPr>
          <p:cNvPr id="10" name="Title 3">
            <a:extLst>
              <a:ext uri="{FF2B5EF4-FFF2-40B4-BE49-F238E27FC236}">
                <a16:creationId xmlns:a16="http://schemas.microsoft.com/office/drawing/2014/main" id="{85BDF8AC-CAAD-F09B-5746-AF78C7CC8156}"/>
              </a:ext>
            </a:extLst>
          </p:cNvPr>
          <p:cNvSpPr txBox="1">
            <a:spLocks/>
          </p:cNvSpPr>
          <p:nvPr/>
        </p:nvSpPr>
        <p:spPr>
          <a:xfrm>
            <a:off x="3666913" y="4635206"/>
            <a:ext cx="2462662" cy="288612"/>
          </a:xfrm>
          <a:prstGeom prst="rect">
            <a:avLst/>
          </a:prstGeom>
          <a:noFill/>
        </p:spPr>
        <p:txBody>
          <a:bodyPr vert="horz" wrap="square" lIns="91419" tIns="45709" rIns="91419" bIns="45709" rtlCol="0" anchor="ctr">
            <a:noAutofit/>
          </a:bodyPr>
          <a:lstStyle>
            <a:lvl1pPr algn="l" defTabSz="914309" rtl="0" eaLnBrk="1" latinLnBrk="0" hangingPunct="1">
              <a:lnSpc>
                <a:spcPct val="100000"/>
              </a:lnSpc>
              <a:spcBef>
                <a:spcPct val="0"/>
              </a:spcBef>
              <a:buNone/>
              <a:defRPr sz="4000" b="1" kern="1200">
                <a:solidFill>
                  <a:schemeClr val="bg1"/>
                </a:solidFill>
                <a:effectLst>
                  <a:outerShdw blurRad="38100" dist="38100" dir="2700000" algn="tl">
                    <a:srgbClr val="000000">
                      <a:alpha val="43137"/>
                    </a:srgbClr>
                  </a:outerShdw>
                </a:effectLst>
                <a:latin typeface="+mj-lt"/>
                <a:ea typeface="+mj-ea"/>
                <a:cs typeface="+mj-cs"/>
              </a:defRPr>
            </a:lvl1pPr>
          </a:lstStyle>
          <a:p>
            <a:pPr marL="457200" indent="-457200"/>
            <a:endParaRPr lang="en-IN" sz="1600" dirty="0">
              <a:effectLst/>
              <a:latin typeface="IBM Plex Sans Light" panose="020B0403050203000203" pitchFamily="34" charset="0"/>
              <a:cs typeface="Calibri" panose="020F0502020204030204" pitchFamily="34" charset="0"/>
            </a:endParaRPr>
          </a:p>
        </p:txBody>
      </p:sp>
      <p:sp>
        <p:nvSpPr>
          <p:cNvPr id="11" name="Title 3">
            <a:extLst>
              <a:ext uri="{FF2B5EF4-FFF2-40B4-BE49-F238E27FC236}">
                <a16:creationId xmlns:a16="http://schemas.microsoft.com/office/drawing/2014/main" id="{CF54282C-431D-12BD-4199-6026F5F36BCF}"/>
              </a:ext>
            </a:extLst>
          </p:cNvPr>
          <p:cNvSpPr txBox="1">
            <a:spLocks/>
          </p:cNvSpPr>
          <p:nvPr/>
        </p:nvSpPr>
        <p:spPr>
          <a:xfrm>
            <a:off x="3666913" y="5217273"/>
            <a:ext cx="1933272" cy="266672"/>
          </a:xfrm>
          <a:prstGeom prst="rect">
            <a:avLst/>
          </a:prstGeom>
          <a:noFill/>
        </p:spPr>
        <p:txBody>
          <a:bodyPr vert="horz" wrap="square" lIns="91419" tIns="45709" rIns="91419" bIns="45709" rtlCol="0" anchor="ctr">
            <a:noAutofit/>
          </a:bodyPr>
          <a:lstStyle>
            <a:lvl1pPr algn="l" defTabSz="914309" rtl="0" eaLnBrk="1" latinLnBrk="0" hangingPunct="1">
              <a:lnSpc>
                <a:spcPct val="100000"/>
              </a:lnSpc>
              <a:spcBef>
                <a:spcPct val="0"/>
              </a:spcBef>
              <a:buNone/>
              <a:defRPr sz="4000" b="1" kern="1200">
                <a:solidFill>
                  <a:schemeClr val="bg1"/>
                </a:solidFill>
                <a:effectLst>
                  <a:outerShdw blurRad="38100" dist="38100" dir="2700000" algn="tl">
                    <a:srgbClr val="000000">
                      <a:alpha val="43137"/>
                    </a:srgbClr>
                  </a:outerShdw>
                </a:effectLst>
                <a:latin typeface="+mj-lt"/>
                <a:ea typeface="+mj-ea"/>
                <a:cs typeface="+mj-cs"/>
              </a:defRPr>
            </a:lvl1pPr>
          </a:lstStyle>
          <a:p>
            <a:pPr marL="457200" indent="-457200"/>
            <a:endParaRPr lang="en-IN" sz="1600" dirty="0">
              <a:effectLst/>
              <a:latin typeface="IBM Plex Sans Light" panose="020B0403050203000203" pitchFamily="34" charset="0"/>
              <a:cs typeface="Calibri" panose="020F0502020204030204" pitchFamily="34" charset="0"/>
            </a:endParaRPr>
          </a:p>
        </p:txBody>
      </p:sp>
      <p:sp>
        <p:nvSpPr>
          <p:cNvPr id="12" name="Title 3">
            <a:extLst>
              <a:ext uri="{FF2B5EF4-FFF2-40B4-BE49-F238E27FC236}">
                <a16:creationId xmlns:a16="http://schemas.microsoft.com/office/drawing/2014/main" id="{EF6104C3-7DDC-2AD6-8105-66705CA55CE4}"/>
              </a:ext>
            </a:extLst>
          </p:cNvPr>
          <p:cNvSpPr txBox="1">
            <a:spLocks/>
          </p:cNvSpPr>
          <p:nvPr/>
        </p:nvSpPr>
        <p:spPr>
          <a:xfrm>
            <a:off x="3666913" y="5877834"/>
            <a:ext cx="1163251" cy="161446"/>
          </a:xfrm>
          <a:prstGeom prst="rect">
            <a:avLst/>
          </a:prstGeom>
          <a:noFill/>
        </p:spPr>
        <p:txBody>
          <a:bodyPr vert="horz" wrap="square" lIns="91419" tIns="45709" rIns="91419" bIns="45709" rtlCol="0" anchor="ctr">
            <a:noAutofit/>
          </a:bodyPr>
          <a:lstStyle>
            <a:lvl1pPr algn="l" defTabSz="914309" rtl="0" eaLnBrk="1" latinLnBrk="0" hangingPunct="1">
              <a:lnSpc>
                <a:spcPct val="100000"/>
              </a:lnSpc>
              <a:spcBef>
                <a:spcPct val="0"/>
              </a:spcBef>
              <a:buNone/>
              <a:defRPr sz="4000" b="1" kern="1200">
                <a:solidFill>
                  <a:schemeClr val="bg1"/>
                </a:solidFill>
                <a:effectLst>
                  <a:outerShdw blurRad="38100" dist="38100" dir="2700000" algn="tl">
                    <a:srgbClr val="000000">
                      <a:alpha val="43137"/>
                    </a:srgbClr>
                  </a:outerShdw>
                </a:effectLst>
                <a:latin typeface="+mj-lt"/>
                <a:ea typeface="+mj-ea"/>
                <a:cs typeface="+mj-cs"/>
              </a:defRPr>
            </a:lvl1pPr>
          </a:lstStyle>
          <a:p>
            <a:pPr marL="457200" indent="-457200"/>
            <a:endParaRPr lang="en-IN" sz="1600" dirty="0">
              <a:effectLst/>
              <a:latin typeface="IBM Plex Sans Light" panose="020B0403050203000203" pitchFamily="34" charset="0"/>
              <a:cs typeface="Calibri" panose="020F0502020204030204" pitchFamily="34" charset="0"/>
            </a:endParaRPr>
          </a:p>
        </p:txBody>
      </p:sp>
      <p:sp>
        <p:nvSpPr>
          <p:cNvPr id="13" name="Title 3">
            <a:extLst>
              <a:ext uri="{FF2B5EF4-FFF2-40B4-BE49-F238E27FC236}">
                <a16:creationId xmlns:a16="http://schemas.microsoft.com/office/drawing/2014/main" id="{AD487316-040E-D1CB-28D1-B5D580D2E4BB}"/>
              </a:ext>
            </a:extLst>
          </p:cNvPr>
          <p:cNvSpPr txBox="1">
            <a:spLocks/>
          </p:cNvSpPr>
          <p:nvPr/>
        </p:nvSpPr>
        <p:spPr>
          <a:xfrm>
            <a:off x="3666913" y="6103275"/>
            <a:ext cx="2059093" cy="204320"/>
          </a:xfrm>
          <a:prstGeom prst="rect">
            <a:avLst/>
          </a:prstGeom>
          <a:noFill/>
        </p:spPr>
        <p:txBody>
          <a:bodyPr vert="horz" wrap="square" lIns="91419" tIns="45709" rIns="91419" bIns="45709" rtlCol="0" anchor="ctr">
            <a:noAutofit/>
          </a:bodyPr>
          <a:lstStyle>
            <a:lvl1pPr algn="l" defTabSz="914309" rtl="0" eaLnBrk="1" latinLnBrk="0" hangingPunct="1">
              <a:lnSpc>
                <a:spcPct val="100000"/>
              </a:lnSpc>
              <a:spcBef>
                <a:spcPct val="0"/>
              </a:spcBef>
              <a:buNone/>
              <a:defRPr sz="4000" b="1" kern="1200">
                <a:solidFill>
                  <a:schemeClr val="bg1"/>
                </a:solidFill>
                <a:effectLst>
                  <a:outerShdw blurRad="38100" dist="38100" dir="2700000" algn="tl">
                    <a:srgbClr val="000000">
                      <a:alpha val="43137"/>
                    </a:srgbClr>
                  </a:outerShdw>
                </a:effectLst>
                <a:latin typeface="+mj-lt"/>
                <a:ea typeface="+mj-ea"/>
                <a:cs typeface="+mj-cs"/>
              </a:defRPr>
            </a:lvl1pPr>
          </a:lstStyle>
          <a:p>
            <a:pPr marL="457200" indent="-457200"/>
            <a:endParaRPr lang="en-IN" sz="1100" b="0" dirty="0">
              <a:effectLst/>
              <a:latin typeface="IBM Plex Sans Light" panose="020B0403050203000203" pitchFamily="34" charset="0"/>
              <a:cs typeface="Calibri" panose="020F0502020204030204" pitchFamily="34" charset="0"/>
            </a:endParaRPr>
          </a:p>
        </p:txBody>
      </p:sp>
      <p:sp>
        <p:nvSpPr>
          <p:cNvPr id="14" name="Title 3">
            <a:extLst>
              <a:ext uri="{FF2B5EF4-FFF2-40B4-BE49-F238E27FC236}">
                <a16:creationId xmlns:a16="http://schemas.microsoft.com/office/drawing/2014/main" id="{674CF78E-2D66-1081-88B8-983B8BEC0C3E}"/>
              </a:ext>
            </a:extLst>
          </p:cNvPr>
          <p:cNvSpPr txBox="1">
            <a:spLocks/>
          </p:cNvSpPr>
          <p:nvPr/>
        </p:nvSpPr>
        <p:spPr>
          <a:xfrm>
            <a:off x="504024" y="4693400"/>
            <a:ext cx="4366057" cy="262415"/>
          </a:xfrm>
          <a:prstGeom prst="rect">
            <a:avLst/>
          </a:prstGeom>
          <a:noFill/>
        </p:spPr>
        <p:txBody>
          <a:bodyPr vert="horz" wrap="square" lIns="91419" tIns="45709" rIns="91419" bIns="45709" rtlCol="0" anchor="ctr">
            <a:noAutofit/>
          </a:bodyPr>
          <a:lstStyle>
            <a:lvl1pPr algn="l" defTabSz="914309" rtl="0" eaLnBrk="1" latinLnBrk="0" hangingPunct="1">
              <a:lnSpc>
                <a:spcPct val="100000"/>
              </a:lnSpc>
              <a:spcBef>
                <a:spcPct val="0"/>
              </a:spcBef>
              <a:buNone/>
              <a:defRPr sz="4000" b="1" kern="1200">
                <a:solidFill>
                  <a:schemeClr val="bg1"/>
                </a:solidFill>
                <a:effectLst>
                  <a:outerShdw blurRad="38100" dist="38100" dir="2700000" algn="tl">
                    <a:srgbClr val="000000">
                      <a:alpha val="43137"/>
                    </a:srgbClr>
                  </a:outerShdw>
                </a:effectLst>
                <a:latin typeface="+mj-lt"/>
                <a:ea typeface="+mj-ea"/>
                <a:cs typeface="+mj-cs"/>
              </a:defRPr>
            </a:lvl1pPr>
          </a:lstStyle>
          <a:p>
            <a:pPr marL="457200" indent="-457200"/>
            <a:r>
              <a:rPr lang="en-IN" sz="1800" b="0" u="sng" dirty="0">
                <a:solidFill>
                  <a:srgbClr val="33CCCC"/>
                </a:solidFill>
                <a:effectLst/>
                <a:latin typeface="Calibri" panose="020F0502020204030204" pitchFamily="34" charset="0"/>
                <a:cs typeface="Calibri" panose="020F0502020204030204" pitchFamily="34" charset="0"/>
                <a:hlinkClick r:id="rId3"/>
              </a:rPr>
              <a:t>https://www.dexitglobal.com</a:t>
            </a:r>
            <a:endParaRPr lang="en-IN" sz="1800" b="0" u="sng" dirty="0">
              <a:solidFill>
                <a:srgbClr val="33CCCC"/>
              </a:solidFill>
              <a:effectLst/>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DAC910D4-C347-66D8-ABE2-1C4E0DB523B3}"/>
              </a:ext>
            </a:extLst>
          </p:cNvPr>
          <p:cNvSpPr txBox="1"/>
          <p:nvPr/>
        </p:nvSpPr>
        <p:spPr>
          <a:xfrm>
            <a:off x="5248483" y="5707430"/>
            <a:ext cx="6994460" cy="1200329"/>
          </a:xfrm>
          <a:prstGeom prst="rect">
            <a:avLst/>
          </a:prstGeom>
          <a:solidFill>
            <a:schemeClr val="bg1">
              <a:alpha val="38000"/>
            </a:schemeClr>
          </a:solidFill>
        </p:spPr>
        <p:txBody>
          <a:bodyPr wrap="square" lIns="0" tIns="0" rIns="0" bIns="0" rtlCol="0">
            <a:spAutoFit/>
          </a:bodyPr>
          <a:lstStyle/>
          <a:p>
            <a:pPr algn="ctr"/>
            <a:r>
              <a:rPr lang="en-US" sz="5400" b="1" dirty="0">
                <a:solidFill>
                  <a:schemeClr val="tx2">
                    <a:lumMod val="90000"/>
                    <a:lumOff val="10000"/>
                  </a:schemeClr>
                </a:solidFill>
                <a:latin typeface="Calibri" panose="020F0502020204030204" pitchFamily="34" charset="0"/>
                <a:cs typeface="Calibri" panose="020F0502020204030204" pitchFamily="34" charset="0"/>
              </a:rPr>
              <a:t>THANK YOU</a:t>
            </a:r>
          </a:p>
          <a:p>
            <a:endParaRPr lang="en-US" sz="2400" dirty="0">
              <a:solidFill>
                <a:srgbClr val="33CCCC"/>
              </a:solidFill>
              <a:latin typeface="Calibri" panose="020F0502020204030204" pitchFamily="34" charset="0"/>
              <a:cs typeface="Calibri" panose="020F0502020204030204" pitchFamily="34" charset="0"/>
            </a:endParaRPr>
          </a:p>
        </p:txBody>
      </p:sp>
      <p:pic>
        <p:nvPicPr>
          <p:cNvPr id="16" name="Graphic 1">
            <a:extLst>
              <a:ext uri="{FF2B5EF4-FFF2-40B4-BE49-F238E27FC236}">
                <a16:creationId xmlns:a16="http://schemas.microsoft.com/office/drawing/2014/main" id="{50A212F3-C142-6D5D-FB7A-46C3BE12FFC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70403" y="1702330"/>
            <a:ext cx="3793169" cy="950473"/>
          </a:xfrm>
          <a:prstGeom prst="rect">
            <a:avLst/>
          </a:prstGeom>
        </p:spPr>
      </p:pic>
    </p:spTree>
    <p:extLst>
      <p:ext uri="{BB962C8B-B14F-4D97-AF65-F5344CB8AC3E}">
        <p14:creationId xmlns:p14="http://schemas.microsoft.com/office/powerpoint/2010/main" val="26026555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545</TotalTime>
  <Words>1710</Words>
  <Application>Microsoft Office PowerPoint</Application>
  <PresentationFormat>Widescreen</PresentationFormat>
  <Paragraphs>180</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Calibri Light</vt:lpstr>
      <vt:lpstr>IBM Plex Sans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Prafull Prakash Chavan</dc:creator>
  <cp:lastModifiedBy>Prafull Prakash Chavan</cp:lastModifiedBy>
  <cp:revision>19</cp:revision>
  <dcterms:created xsi:type="dcterms:W3CDTF">2025-12-13T10:54:30Z</dcterms:created>
  <dcterms:modified xsi:type="dcterms:W3CDTF">2026-01-16T12:45:25Z</dcterms:modified>
</cp:coreProperties>
</file>